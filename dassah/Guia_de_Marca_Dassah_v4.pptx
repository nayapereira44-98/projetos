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ebf63d91-ab4e-a05e-84a2-6a5b1c826dd4}">
          <p14:sldIdLst>
            <p14:sldId id="256"/>
          </p14:sldIdLst>
        </p14:section>
        <p14:section name="Quem somos" id="{11546d9f-78a8-2af7-7e12-0103f461a7fa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omo aparecemos" id="{81f7b1ff-55be-0619-b610-88099358917e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Aplicações" id="{701a5986-bcb8-8c37-80af-0e5e8968fb2e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uidado" id="{3bee03b8-eced-ded8-dfe2-53b91ede799b}">
          <p14:sldIdLst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D8D1C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D8D1C2"/>
                </a:solidFill>
                <a:latin typeface="+mn-lt"/>
              </a:rPr>
              <a:t>Mistura de pilares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Pilares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3261E"/>
              </a:solidFill>
              <a:effectLst/>
            </c:spPr>
          </c:dPt>
          <c:dPt>
            <c:idx val="1"/>
            <c:bubble3D val="0"/>
            <c:spPr>
              <a:solidFill>
                <a:srgbClr val="A8641E"/>
              </a:solidFill>
              <a:effectLst/>
            </c:spPr>
          </c:dPt>
          <c:dPt>
            <c:idx val="2"/>
            <c:bubble3D val="0"/>
            <c:spPr>
              <a:solidFill>
                <a:srgbClr val="5E3A35"/>
              </a:solidFill>
              <a:effectLst/>
            </c:spPr>
          </c:dPt>
          <c:dPt>
            <c:idx val="3"/>
            <c:bubble3D val="0"/>
            <c:spPr>
              <a:solidFill>
                <a:srgbClr val="B39E97"/>
              </a:solidFill>
              <a:effectLst/>
            </c:spPr>
          </c:dPt>
          <c:dPt>
            <c:idx val="4"/>
            <c:bubble3D val="0"/>
            <c:spPr>
              <a:solidFill>
                <a:srgbClr val="CDBFA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FE7D8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FE7D8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FE7D8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FE7D8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FE7D8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Dor e alívio</c:v>
                </c:pt>
                <c:pt idx="1">
                  <c:v>Evidência</c:v>
                </c:pt>
                <c:pt idx="2">
                  <c:v>Bastidor</c:v>
                </c:pt>
                <c:pt idx="3">
                  <c:v>Nicho</c:v>
                </c:pt>
                <c:pt idx="4">
                  <c:v>Oferta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20</c:v>
                </c:pt>
                <c:pt idx="2">
                  <c:v>15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8D1C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do guia. O logotipo é imagem; para trocar, substitua a figura 'logotipo hadassah'.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Seção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Dassah Co., guia de marca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Título</a:t>
            </a: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Dassah Co., guia de marca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Título</a:t>
            </a: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Dassah Co., guia de marca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image" Target="../media/image-17-6.jp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1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Guia de marca, versão 4, outubro de 2026</a:t>
            </a:r>
            <a:endParaRPr lang="en-US" sz="1300" dirty="0"/>
          </a:p>
        </p:txBody>
      </p:sp>
      <p:pic>
        <p:nvPicPr>
          <p:cNvPr id="3" name="logotipo hadassah" descr="logotipo hadassa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8503920" cy="2340864"/>
          </a:xfrm>
          <a:prstGeom prst="rect">
            <a:avLst/>
          </a:prstGeom>
        </p:spPr>
      </p:pic>
      <p:sp>
        <p:nvSpPr>
          <p:cNvPr id="4" name="texto 2"/>
          <p:cNvSpPr txBox="1"/>
          <p:nvPr/>
        </p:nvSpPr>
        <p:spPr>
          <a:xfrm>
            <a:off x="548640" y="4206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Menos excesso, mais intenção.</a:t>
            </a:r>
            <a:endParaRPr lang="en-US" sz="3600" dirty="0"/>
          </a:p>
        </p:txBody>
      </p:sp>
      <p:sp>
        <p:nvSpPr>
          <p:cNvPr id="5" name="texto 3"/>
          <p:cNvSpPr txBox="1"/>
          <p:nvPr/>
        </p:nvSpPr>
        <p:spPr>
          <a:xfrm>
            <a:off x="6949440" y="42519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Origem, estratégia, voz, identidade visual e aplicações da Dassah Co. Serve para quem escreve um Reels, monta uma proposta ou manda a primeira mensagem no WhatsApp.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Quem somos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Origem do nome, plataforma, voz e selos de fonte.</a:t>
            </a:r>
            <a:endParaRPr lang="en-US" sz="1800" dirty="0"/>
          </a:p>
        </p:txBody>
      </p:sp>
      <p:pic>
        <p:nvPicPr>
          <p:cNvPr id="4" name="monograma" descr="monogram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31375" y="1463040"/>
            <a:ext cx="2011680" cy="2926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raiz</a:t>
            </a:r>
            <a:endParaRPr lang="en-US" sz="4000" dirty="0"/>
          </a:p>
        </p:txBody>
      </p:sp>
      <p:sp>
        <p:nvSpPr>
          <p:cNvPr id="3" name="texto 4"/>
          <p:cNvSpPr txBox="1"/>
          <p:nvPr/>
        </p:nvSpPr>
        <p:spPr>
          <a:xfrm>
            <a:off x="548640" y="1325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 nome vem de Hadassa, o nome hebraico de Ester. A referência bíblica é a origem simbólica da marca, não uma afirmação sobre o significado literal da palavra.</a:t>
            </a:r>
            <a:endParaRPr lang="en-US" sz="1600" dirty="0"/>
          </a:p>
        </p:txBody>
      </p:sp>
      <p:sp>
        <p:nvSpPr>
          <p:cNvPr id="4" name="texto 5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"Este criara a Hadassa (que é Ester), filha de seu tio." Ester 2:7</a:t>
            </a:r>
            <a:endParaRPr lang="en-US" sz="1400" dirty="0"/>
          </a:p>
        </p:txBody>
      </p:sp>
      <p:sp>
        <p:nvSpPr>
          <p:cNvPr id="5" name="linha 6"/>
          <p:cNvSpPr/>
          <p:nvPr/>
        </p:nvSpPr>
        <p:spPr>
          <a:xfrm>
            <a:off x="548640" y="2880360"/>
            <a:ext cx="345429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o 7"/>
          <p:cNvSpPr txBox="1"/>
          <p:nvPr/>
        </p:nvSpPr>
        <p:spPr>
          <a:xfrm>
            <a:off x="548640" y="306324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Hadassa</a:t>
            </a:r>
            <a:endParaRPr lang="en-US" sz="2800" dirty="0"/>
          </a:p>
        </p:txBody>
      </p:sp>
      <p:sp>
        <p:nvSpPr>
          <p:cNvPr id="7" name="texto 8"/>
          <p:cNvSpPr txBox="1"/>
          <p:nvPr/>
        </p:nvSpPr>
        <p:spPr>
          <a:xfrm>
            <a:off x="548640" y="3703320"/>
            <a:ext cx="345429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Significa murta. Ester precisou agir com sabedoria, discernimento e coragem num momento decisivo. Dessa história saem os valores da marca.</a:t>
            </a:r>
            <a:endParaRPr lang="en-US" sz="1500" dirty="0"/>
          </a:p>
        </p:txBody>
      </p:sp>
      <p:sp>
        <p:nvSpPr>
          <p:cNvPr id="8" name="linha 9"/>
          <p:cNvSpPr/>
          <p:nvPr/>
        </p:nvSpPr>
        <p:spPr>
          <a:xfrm>
            <a:off x="4368698" y="2880360"/>
            <a:ext cx="345429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o 10"/>
          <p:cNvSpPr txBox="1"/>
          <p:nvPr/>
        </p:nvSpPr>
        <p:spPr>
          <a:xfrm>
            <a:off x="4368698" y="306324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Dassah</a:t>
            </a:r>
            <a:endParaRPr lang="en-US" sz="2800" dirty="0"/>
          </a:p>
        </p:txBody>
      </p:sp>
      <p:sp>
        <p:nvSpPr>
          <p:cNvPr id="10" name="texto 11"/>
          <p:cNvSpPr txBox="1"/>
          <p:nvPr/>
        </p:nvSpPr>
        <p:spPr>
          <a:xfrm>
            <a:off x="4368698" y="3703320"/>
            <a:ext cx="345429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Redução autoral de Hadassa, mais curta e fácil de dizer. Cortar o "Ha" segue a mesma regra que a marca aplica no trabalho: tirar o excesso.</a:t>
            </a:r>
            <a:endParaRPr lang="en-US" sz="1500" dirty="0"/>
          </a:p>
        </p:txBody>
      </p:sp>
      <p:sp>
        <p:nvSpPr>
          <p:cNvPr id="11" name="linha 12"/>
          <p:cNvSpPr/>
          <p:nvPr/>
        </p:nvSpPr>
        <p:spPr>
          <a:xfrm>
            <a:off x="8188757" y="2880360"/>
            <a:ext cx="345429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o 13"/>
          <p:cNvSpPr txBox="1"/>
          <p:nvPr/>
        </p:nvSpPr>
        <p:spPr>
          <a:xfrm>
            <a:off x="8188757" y="306324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Co.</a:t>
            </a:r>
            <a:endParaRPr lang="en-US" sz="2800" dirty="0"/>
          </a:p>
        </p:txBody>
      </p:sp>
      <p:sp>
        <p:nvSpPr>
          <p:cNvPr id="13" name="texto 14"/>
          <p:cNvSpPr txBox="1"/>
          <p:nvPr/>
        </p:nvSpPr>
        <p:spPr>
          <a:xfrm>
            <a:off x="8188757" y="3703320"/>
            <a:ext cx="345429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Construção em companhia. Marcas não se constroem sozinhas, e o Co. deixa a marca crescer além de um serviço.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Valores e os sentidos do Co.</a:t>
            </a:r>
            <a:endParaRPr lang="en-US" sz="4000" dirty="0"/>
          </a:p>
        </p:txBody>
      </p:sp>
      <p:sp>
        <p:nvSpPr>
          <p:cNvPr id="3" name="texto 15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Valores que a história de Ester inspira</a:t>
            </a:r>
            <a:endParaRPr lang="en-US" sz="1100" dirty="0"/>
          </a:p>
        </p:txBody>
      </p:sp>
      <p:sp>
        <p:nvSpPr>
          <p:cNvPr id="4" name="valor Essência"/>
          <p:cNvSpPr/>
          <p:nvPr/>
        </p:nvSpPr>
        <p:spPr>
          <a:xfrm>
            <a:off x="548640" y="1783080"/>
            <a:ext cx="2036003" cy="17373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texto 16"/>
          <p:cNvSpPr txBox="1"/>
          <p:nvPr/>
        </p:nvSpPr>
        <p:spPr>
          <a:xfrm>
            <a:off x="731520" y="196596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Essência</a:t>
            </a:r>
            <a:endParaRPr lang="en-US" sz="2200" dirty="0"/>
          </a:p>
        </p:txBody>
      </p:sp>
      <p:sp>
        <p:nvSpPr>
          <p:cNvPr id="6" name="texto 17"/>
          <p:cNvSpPr txBox="1"/>
          <p:nvPr/>
        </p:nvSpPr>
        <p:spPr>
          <a:xfrm>
            <a:off x="731520" y="25146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Saber quem se é, em qualquer ambiente</a:t>
            </a:r>
            <a:endParaRPr lang="en-US" sz="1400" dirty="0"/>
          </a:p>
        </p:txBody>
      </p:sp>
      <p:sp>
        <p:nvSpPr>
          <p:cNvPr id="7" name="valor Sabedoria"/>
          <p:cNvSpPr/>
          <p:nvPr/>
        </p:nvSpPr>
        <p:spPr>
          <a:xfrm>
            <a:off x="2813243" y="1783080"/>
            <a:ext cx="2036003" cy="17373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texto 18"/>
          <p:cNvSpPr txBox="1"/>
          <p:nvPr/>
        </p:nvSpPr>
        <p:spPr>
          <a:xfrm>
            <a:off x="2996123" y="196596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Sabedoria</a:t>
            </a:r>
            <a:endParaRPr lang="en-US" sz="2200" dirty="0"/>
          </a:p>
        </p:txBody>
      </p:sp>
      <p:sp>
        <p:nvSpPr>
          <p:cNvPr id="9" name="texto 19"/>
          <p:cNvSpPr txBox="1"/>
          <p:nvPr/>
        </p:nvSpPr>
        <p:spPr>
          <a:xfrm>
            <a:off x="2996123" y="25146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Compreender antes de agir</a:t>
            </a:r>
            <a:endParaRPr lang="en-US" sz="1400" dirty="0"/>
          </a:p>
        </p:txBody>
      </p:sp>
      <p:sp>
        <p:nvSpPr>
          <p:cNvPr id="10" name="valor Coragem"/>
          <p:cNvSpPr/>
          <p:nvPr/>
        </p:nvSpPr>
        <p:spPr>
          <a:xfrm>
            <a:off x="5077846" y="1783080"/>
            <a:ext cx="2036003" cy="17373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texto 20"/>
          <p:cNvSpPr txBox="1"/>
          <p:nvPr/>
        </p:nvSpPr>
        <p:spPr>
          <a:xfrm>
            <a:off x="5260726" y="196596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Coragem</a:t>
            </a:r>
            <a:endParaRPr lang="en-US" sz="2200" dirty="0"/>
          </a:p>
        </p:txBody>
      </p:sp>
      <p:sp>
        <p:nvSpPr>
          <p:cNvPr id="12" name="texto 21"/>
          <p:cNvSpPr txBox="1"/>
          <p:nvPr/>
        </p:nvSpPr>
        <p:spPr>
          <a:xfrm>
            <a:off x="5260726" y="25146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Assumir o propósito diante do desafio</a:t>
            </a:r>
            <a:endParaRPr lang="en-US" sz="1400" dirty="0"/>
          </a:p>
        </p:txBody>
      </p:sp>
      <p:sp>
        <p:nvSpPr>
          <p:cNvPr id="13" name="valor Identidade"/>
          <p:cNvSpPr/>
          <p:nvPr/>
        </p:nvSpPr>
        <p:spPr>
          <a:xfrm>
            <a:off x="7342449" y="1783080"/>
            <a:ext cx="2036003" cy="17373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texto 22"/>
          <p:cNvSpPr txBox="1"/>
          <p:nvPr/>
        </p:nvSpPr>
        <p:spPr>
          <a:xfrm>
            <a:off x="7525329" y="196596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Identidade</a:t>
            </a:r>
            <a:endParaRPr lang="en-US" sz="2200" dirty="0"/>
          </a:p>
        </p:txBody>
      </p:sp>
      <p:sp>
        <p:nvSpPr>
          <p:cNvPr id="15" name="texto 23"/>
          <p:cNvSpPr txBox="1"/>
          <p:nvPr/>
        </p:nvSpPr>
        <p:spPr>
          <a:xfrm>
            <a:off x="7525329" y="25146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Construir sem perder a origem</a:t>
            </a:r>
            <a:endParaRPr lang="en-US" sz="1400" dirty="0"/>
          </a:p>
        </p:txBody>
      </p:sp>
      <p:sp>
        <p:nvSpPr>
          <p:cNvPr id="16" name="valor Propósito"/>
          <p:cNvSpPr/>
          <p:nvPr/>
        </p:nvSpPr>
        <p:spPr>
          <a:xfrm>
            <a:off x="9607052" y="1783080"/>
            <a:ext cx="2036003" cy="17373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texto 24"/>
          <p:cNvSpPr txBox="1"/>
          <p:nvPr/>
        </p:nvSpPr>
        <p:spPr>
          <a:xfrm>
            <a:off x="9789932" y="196596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Propósito</a:t>
            </a:r>
            <a:endParaRPr lang="en-US" sz="2200" dirty="0"/>
          </a:p>
        </p:txBody>
      </p:sp>
      <p:sp>
        <p:nvSpPr>
          <p:cNvPr id="18" name="texto 25"/>
          <p:cNvSpPr txBox="1"/>
          <p:nvPr/>
        </p:nvSpPr>
        <p:spPr>
          <a:xfrm>
            <a:off x="9789932" y="25146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Influência a serviço de algo maior</a:t>
            </a:r>
            <a:endParaRPr lang="en-US" sz="1400" dirty="0"/>
          </a:p>
        </p:txBody>
      </p:sp>
      <p:sp>
        <p:nvSpPr>
          <p:cNvPr id="19" name="texto 26"/>
          <p:cNvSpPr txBox="1"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Os sentidos do Co.</a:t>
            </a:r>
            <a:endParaRPr lang="en-US" sz="1100" dirty="0"/>
          </a:p>
        </p:txBody>
      </p:sp>
      <p:sp>
        <p:nvSpPr>
          <p:cNvPr id="20" name="co Companhia"/>
          <p:cNvSpPr/>
          <p:nvPr/>
        </p:nvSpPr>
        <p:spPr>
          <a:xfrm>
            <a:off x="548640" y="4343400"/>
            <a:ext cx="2602154" cy="1554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1" name="texto 27"/>
          <p:cNvSpPr txBox="1"/>
          <p:nvPr/>
        </p:nvSpPr>
        <p:spPr>
          <a:xfrm>
            <a:off x="731520" y="452628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Companhia</a:t>
            </a:r>
            <a:endParaRPr lang="en-US" sz="2200" dirty="0"/>
          </a:p>
        </p:txBody>
      </p:sp>
      <p:sp>
        <p:nvSpPr>
          <p:cNvPr id="22" name="texto 28"/>
          <p:cNvSpPr txBox="1"/>
          <p:nvPr/>
        </p:nvSpPr>
        <p:spPr>
          <a:xfrm>
            <a:off x="731520" y="5029200"/>
            <a:ext cx="2236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Caminhar ao lado de quem empreende</a:t>
            </a:r>
            <a:endParaRPr lang="en-US" sz="1400" dirty="0"/>
          </a:p>
        </p:txBody>
      </p:sp>
      <p:sp>
        <p:nvSpPr>
          <p:cNvPr id="23" name="co Colaboração"/>
          <p:cNvSpPr/>
          <p:nvPr/>
        </p:nvSpPr>
        <p:spPr>
          <a:xfrm>
            <a:off x="3379394" y="4343400"/>
            <a:ext cx="2602154" cy="1554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4" name="texto 29"/>
          <p:cNvSpPr txBox="1"/>
          <p:nvPr/>
        </p:nvSpPr>
        <p:spPr>
          <a:xfrm>
            <a:off x="3562274" y="452628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Colaboração</a:t>
            </a:r>
            <a:endParaRPr lang="en-US" sz="2200" dirty="0"/>
          </a:p>
        </p:txBody>
      </p:sp>
      <p:sp>
        <p:nvSpPr>
          <p:cNvPr id="25" name="texto 30"/>
          <p:cNvSpPr txBox="1"/>
          <p:nvPr/>
        </p:nvSpPr>
        <p:spPr>
          <a:xfrm>
            <a:off x="3562274" y="5029200"/>
            <a:ext cx="2236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Unir perspectivas para chegar à solução</a:t>
            </a:r>
            <a:endParaRPr lang="en-US" sz="1400" dirty="0"/>
          </a:p>
        </p:txBody>
      </p:sp>
      <p:sp>
        <p:nvSpPr>
          <p:cNvPr id="26" name="co Construção"/>
          <p:cNvSpPr/>
          <p:nvPr/>
        </p:nvSpPr>
        <p:spPr>
          <a:xfrm>
            <a:off x="6210148" y="4343400"/>
            <a:ext cx="2602154" cy="1554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7" name="texto 31"/>
          <p:cNvSpPr txBox="1"/>
          <p:nvPr/>
        </p:nvSpPr>
        <p:spPr>
          <a:xfrm>
            <a:off x="6393028" y="452628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Construção</a:t>
            </a:r>
            <a:endParaRPr lang="en-US" sz="2200" dirty="0"/>
          </a:p>
        </p:txBody>
      </p:sp>
      <p:sp>
        <p:nvSpPr>
          <p:cNvPr id="28" name="texto 32"/>
          <p:cNvSpPr txBox="1"/>
          <p:nvPr/>
        </p:nvSpPr>
        <p:spPr>
          <a:xfrm>
            <a:off x="6393028" y="5029200"/>
            <a:ext cx="2236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Transformar intenção em estrutura</a:t>
            </a:r>
            <a:endParaRPr lang="en-US" sz="1400" dirty="0"/>
          </a:p>
        </p:txBody>
      </p:sp>
      <p:sp>
        <p:nvSpPr>
          <p:cNvPr id="29" name="co Conexão"/>
          <p:cNvSpPr/>
          <p:nvPr/>
        </p:nvSpPr>
        <p:spPr>
          <a:xfrm>
            <a:off x="9040901" y="4343400"/>
            <a:ext cx="2602154" cy="1554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0" name="texto 33"/>
          <p:cNvSpPr txBox="1"/>
          <p:nvPr/>
        </p:nvSpPr>
        <p:spPr>
          <a:xfrm>
            <a:off x="9223781" y="452628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Conexão</a:t>
            </a:r>
            <a:endParaRPr lang="en-US" sz="2200" dirty="0"/>
          </a:p>
        </p:txBody>
      </p:sp>
      <p:sp>
        <p:nvSpPr>
          <p:cNvPr id="31" name="texto 34"/>
          <p:cNvSpPr txBox="1"/>
          <p:nvPr/>
        </p:nvSpPr>
        <p:spPr>
          <a:xfrm>
            <a:off x="9223781" y="5029200"/>
            <a:ext cx="2236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Aproximar estratégia, identidade e comunicação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Ideia central</a:t>
            </a:r>
            <a:endParaRPr lang="en-US" sz="4000" dirty="0"/>
          </a:p>
        </p:txBody>
      </p:sp>
      <p:sp>
        <p:nvSpPr>
          <p:cNvPr id="3" name="faixa ideia central"/>
          <p:cNvSpPr/>
          <p:nvPr/>
        </p:nvSpPr>
        <p:spPr>
          <a:xfrm>
            <a:off x="548640" y="1371600"/>
            <a:ext cx="11094415" cy="3017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o 35"/>
          <p:cNvSpPr txBox="1"/>
          <p:nvPr/>
        </p:nvSpPr>
        <p:spPr>
          <a:xfrm>
            <a:off x="1005840" y="1691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Menos excesso, mais intenção.</a:t>
            </a:r>
            <a:endParaRPr lang="en-US" sz="6000" dirty="0"/>
          </a:p>
        </p:txBody>
      </p:sp>
      <p:sp>
        <p:nvSpPr>
          <p:cNvPr id="5" name="texto 36"/>
          <p:cNvSpPr txBox="1"/>
          <p:nvPr/>
        </p:nvSpPr>
        <p:spPr>
          <a:xfrm>
            <a:off x="1005840" y="2971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Nasceu para explicar por que Hadassa virou Dassah, e resume o que a Dassah entrega: tirar do dono do negócio o excesso (post sem calendário, métrica de vaidade, jargão de agência) e deixar só o que tem razão de existir.</a:t>
            </a:r>
            <a:endParaRPr lang="en-US" sz="1700" dirty="0"/>
          </a:p>
        </p:txBody>
      </p:sp>
      <p:sp>
        <p:nvSpPr>
          <p:cNvPr id="6" name="texto 37"/>
          <p:cNvSpPr txBox="1"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Assinatura conceitual</a:t>
            </a:r>
            <a:endParaRPr lang="en-US" sz="1100" dirty="0"/>
          </a:p>
        </p:txBody>
      </p:sp>
      <p:sp>
        <p:nvSpPr>
          <p:cNvPr id="7" name="texto 38"/>
          <p:cNvSpPr txBox="1"/>
          <p:nvPr/>
        </p:nvSpPr>
        <p:spPr>
          <a:xfrm>
            <a:off x="548640" y="5120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Essência que orienta. Estratégia que constrói. Beleza que comunica.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Plataforma</a:t>
            </a:r>
            <a:endParaRPr lang="en-US" sz="4000" dirty="0"/>
          </a:p>
        </p:txBody>
      </p:sp>
      <p:sp>
        <p:nvSpPr>
          <p:cNvPr id="3" name="linha 39"/>
          <p:cNvSpPr/>
          <p:nvPr/>
        </p:nvSpPr>
        <p:spPr>
          <a:xfrm>
            <a:off x="548640" y="141732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o 40"/>
          <p:cNvSpPr txBox="1"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Posicionamento</a:t>
            </a:r>
            <a:endParaRPr lang="en-US" sz="1200" dirty="0"/>
          </a:p>
        </p:txBody>
      </p:sp>
      <p:sp>
        <p:nvSpPr>
          <p:cNvPr id="5" name="texto 41"/>
          <p:cNvSpPr txBox="1"/>
          <p:nvPr/>
        </p:nvSpPr>
        <p:spPr>
          <a:xfrm>
            <a:off x="3200400" y="1527048"/>
            <a:ext cx="8442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parceira de tempo livre e de contatos reais para o pequeno negócio que já entendeu que não vai postar depois do expediente, e para a média empresa que quer crescer com governança, não com social media avulso.</a:t>
            </a:r>
            <a:endParaRPr lang="en-US" sz="1500" dirty="0"/>
          </a:p>
        </p:txBody>
      </p:sp>
      <p:sp>
        <p:nvSpPr>
          <p:cNvPr id="6" name="linha 42"/>
          <p:cNvSpPr/>
          <p:nvPr/>
        </p:nvSpPr>
        <p:spPr>
          <a:xfrm>
            <a:off x="548640" y="237744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o 43"/>
          <p:cNvSpPr txBox="1"/>
          <p:nvPr/>
        </p:nvSpPr>
        <p:spPr>
          <a:xfrm>
            <a:off x="5486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Frase-mãe, MEI</a:t>
            </a:r>
            <a:endParaRPr lang="en-US" sz="1200" dirty="0"/>
          </a:p>
        </p:txBody>
      </p:sp>
      <p:sp>
        <p:nvSpPr>
          <p:cNvPr id="8" name="texto 44"/>
          <p:cNvSpPr txBox="1"/>
          <p:nvPr/>
        </p:nvSpPr>
        <p:spPr>
          <a:xfrm>
            <a:off x="3200400" y="2487168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Você cuida do seu negócio. Nós cuidamos para ele aparecer e ser atrativo todos os dias. Você só aprova, no WhatsApp, e a métrica é contato, não curtida.</a:t>
            </a:r>
            <a:endParaRPr lang="en-US" sz="1500" dirty="0"/>
          </a:p>
        </p:txBody>
      </p:sp>
      <p:sp>
        <p:nvSpPr>
          <p:cNvPr id="9" name="linha 45"/>
          <p:cNvSpPr/>
          <p:nvPr/>
        </p:nvSpPr>
        <p:spPr>
          <a:xfrm>
            <a:off x="548640" y="324612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o 46"/>
          <p:cNvSpPr txBox="1"/>
          <p:nvPr/>
        </p:nvSpPr>
        <p:spPr>
          <a:xfrm>
            <a:off x="54864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Frase-mãe, FEE</a:t>
            </a:r>
            <a:endParaRPr lang="en-US" sz="1200" dirty="0"/>
          </a:p>
        </p:txBody>
      </p:sp>
      <p:sp>
        <p:nvSpPr>
          <p:cNvPr id="11" name="texto 47"/>
          <p:cNvSpPr txBox="1"/>
          <p:nvPr/>
        </p:nvSpPr>
        <p:spPr>
          <a:xfrm>
            <a:off x="3200400" y="3355848"/>
            <a:ext cx="8442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Fee fixo, time alocado, relatório executivo e governança mensal.</a:t>
            </a:r>
            <a:endParaRPr lang="en-US" sz="1500" dirty="0"/>
          </a:p>
        </p:txBody>
      </p:sp>
      <p:sp>
        <p:nvSpPr>
          <p:cNvPr id="12" name="linha 48"/>
          <p:cNvSpPr/>
          <p:nvPr/>
        </p:nvSpPr>
        <p:spPr>
          <a:xfrm>
            <a:off x="548640" y="379476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o 49"/>
          <p:cNvSpPr txBox="1"/>
          <p:nvPr/>
        </p:nvSpPr>
        <p:spPr>
          <a:xfrm>
            <a:off x="54864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Narrativa</a:t>
            </a:r>
            <a:endParaRPr lang="en-US" sz="1200" dirty="0"/>
          </a:p>
        </p:txBody>
      </p:sp>
      <p:sp>
        <p:nvSpPr>
          <p:cNvPr id="14" name="texto 50"/>
          <p:cNvSpPr txBox="1"/>
          <p:nvPr/>
        </p:nvSpPr>
        <p:spPr>
          <a:xfrm>
            <a:off x="3200400" y="3904488"/>
            <a:ext cx="8442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peso, o erro comum, o corte Dassah, o alívio mensurável.</a:t>
            </a:r>
            <a:endParaRPr lang="en-US" sz="1500" dirty="0"/>
          </a:p>
        </p:txBody>
      </p:sp>
      <p:sp>
        <p:nvSpPr>
          <p:cNvPr id="15" name="linha 51"/>
          <p:cNvSpPr/>
          <p:nvPr/>
        </p:nvSpPr>
        <p:spPr>
          <a:xfrm>
            <a:off x="548640" y="434340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o 52"/>
          <p:cNvSpPr txBox="1"/>
          <p:nvPr/>
        </p:nvSpPr>
        <p:spPr>
          <a:xfrm>
            <a:off x="54864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Arquétipo</a:t>
            </a:r>
            <a:endParaRPr lang="en-US" sz="1200" dirty="0"/>
          </a:p>
        </p:txBody>
      </p:sp>
      <p:sp>
        <p:nvSpPr>
          <p:cNvPr id="17" name="texto 53"/>
          <p:cNvSpPr txBox="1"/>
          <p:nvPr/>
        </p:nvSpPr>
        <p:spPr>
          <a:xfrm>
            <a:off x="3200400" y="4453128"/>
            <a:ext cx="8442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Sábia, com traço de Cuidadora. Sabedoria é o centro da história de Ester; o cuidado vem do Co. (a confirmar)</a:t>
            </a:r>
            <a:endParaRPr lang="en-US" sz="1500" dirty="0"/>
          </a:p>
        </p:txBody>
      </p:sp>
      <p:sp>
        <p:nvSpPr>
          <p:cNvPr id="18" name="linha 54"/>
          <p:cNvSpPr/>
          <p:nvPr/>
        </p:nvSpPr>
        <p:spPr>
          <a:xfrm>
            <a:off x="548640" y="512064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que a Dassah é, e o que não é</a:t>
            </a:r>
            <a:endParaRPr lang="en-US" sz="4000" dirty="0"/>
          </a:p>
        </p:txBody>
      </p:sp>
      <p:sp>
        <p:nvSpPr>
          <p:cNvPr id="3" name="texto 55"/>
          <p:cNvSpPr txBox="1"/>
          <p:nvPr/>
        </p:nvSpPr>
        <p:spPr>
          <a:xfrm>
            <a:off x="548640" y="141732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Dassah é</a:t>
            </a:r>
            <a:endParaRPr lang="en-US" sz="1100" dirty="0"/>
          </a:p>
        </p:txBody>
      </p:sp>
      <p:sp>
        <p:nvSpPr>
          <p:cNvPr id="4" name="linha 56"/>
          <p:cNvSpPr/>
          <p:nvPr/>
        </p:nvSpPr>
        <p:spPr>
          <a:xfrm>
            <a:off x="548640" y="182880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o 57"/>
          <p:cNvSpPr txBox="1"/>
          <p:nvPr/>
        </p:nvSpPr>
        <p:spPr>
          <a:xfrm>
            <a:off x="548640" y="1965960"/>
            <a:ext cx="527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Operação de presença que o cliente só aprova.</a:t>
            </a:r>
            <a:endParaRPr lang="en-US" sz="2400" dirty="0"/>
          </a:p>
        </p:txBody>
      </p:sp>
      <p:sp>
        <p:nvSpPr>
          <p:cNvPr id="6" name="linha 58"/>
          <p:cNvSpPr/>
          <p:nvPr/>
        </p:nvSpPr>
        <p:spPr>
          <a:xfrm>
            <a:off x="548640" y="265176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o 59"/>
          <p:cNvSpPr txBox="1"/>
          <p:nvPr/>
        </p:nvSpPr>
        <p:spPr>
          <a:xfrm>
            <a:off x="548640" y="2788920"/>
            <a:ext cx="527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Tradutora de plataforma para linguagem de caixa.</a:t>
            </a:r>
            <a:endParaRPr lang="en-US" sz="2400" dirty="0"/>
          </a:p>
        </p:txBody>
      </p:sp>
      <p:sp>
        <p:nvSpPr>
          <p:cNvPr id="8" name="linha 60"/>
          <p:cNvSpPr/>
          <p:nvPr/>
        </p:nvSpPr>
        <p:spPr>
          <a:xfrm>
            <a:off x="548640" y="347472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o 61"/>
          <p:cNvSpPr txBox="1"/>
          <p:nvPr/>
        </p:nvSpPr>
        <p:spPr>
          <a:xfrm>
            <a:off x="548640" y="3611880"/>
            <a:ext cx="527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Agência que mostra a fonte do argumento.</a:t>
            </a:r>
            <a:endParaRPr lang="en-US" sz="2400" dirty="0"/>
          </a:p>
        </p:txBody>
      </p:sp>
      <p:sp>
        <p:nvSpPr>
          <p:cNvPr id="10" name="texto 62"/>
          <p:cNvSpPr txBox="1"/>
          <p:nvPr/>
        </p:nvSpPr>
        <p:spPr>
          <a:xfrm>
            <a:off x="6370168" y="141732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Dassah não é</a:t>
            </a:r>
            <a:endParaRPr lang="en-US" sz="1100" dirty="0"/>
          </a:p>
        </p:txBody>
      </p:sp>
      <p:sp>
        <p:nvSpPr>
          <p:cNvPr id="11" name="linha 63"/>
          <p:cNvSpPr/>
          <p:nvPr/>
        </p:nvSpPr>
        <p:spPr>
          <a:xfrm>
            <a:off x="6370168" y="182880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o 64"/>
          <p:cNvSpPr txBox="1"/>
          <p:nvPr/>
        </p:nvSpPr>
        <p:spPr>
          <a:xfrm>
            <a:off x="6370168" y="1965960"/>
            <a:ext cx="527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Social media freelancer com CNPJ.</a:t>
            </a:r>
            <a:endParaRPr lang="en-US" sz="1800" dirty="0"/>
          </a:p>
        </p:txBody>
      </p:sp>
      <p:sp>
        <p:nvSpPr>
          <p:cNvPr id="13" name="linha 65"/>
          <p:cNvSpPr/>
          <p:nvPr/>
        </p:nvSpPr>
        <p:spPr>
          <a:xfrm>
            <a:off x="6370168" y="265176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o 66"/>
          <p:cNvSpPr txBox="1"/>
          <p:nvPr/>
        </p:nvSpPr>
        <p:spPr>
          <a:xfrm>
            <a:off x="6370168" y="2788920"/>
            <a:ext cx="527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Holding de jargão para MEI.</a:t>
            </a:r>
            <a:endParaRPr lang="en-US" sz="1800" dirty="0"/>
          </a:p>
        </p:txBody>
      </p:sp>
      <p:sp>
        <p:nvSpPr>
          <p:cNvPr id="15" name="linha 67"/>
          <p:cNvSpPr/>
          <p:nvPr/>
        </p:nvSpPr>
        <p:spPr>
          <a:xfrm>
            <a:off x="6370168" y="347472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o 68"/>
          <p:cNvSpPr txBox="1"/>
          <p:nvPr/>
        </p:nvSpPr>
        <p:spPr>
          <a:xfrm>
            <a:off x="6370168" y="3611880"/>
            <a:ext cx="527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Casa de tráfego isolado.</a:t>
            </a:r>
            <a:endParaRPr lang="en-US" sz="1800" dirty="0"/>
          </a:p>
        </p:txBody>
      </p:sp>
      <p:sp>
        <p:nvSpPr>
          <p:cNvPr id="17" name="linha 69"/>
          <p:cNvSpPr/>
          <p:nvPr/>
        </p:nvSpPr>
        <p:spPr>
          <a:xfrm>
            <a:off x="6370168" y="429768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o 70"/>
          <p:cNvSpPr txBox="1"/>
          <p:nvPr/>
        </p:nvSpPr>
        <p:spPr>
          <a:xfrm>
            <a:off x="6370168" y="4434840"/>
            <a:ext cx="527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Fábrica de 30 posts sem calendário.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Voz: a mesma personalidade, duas linguagens</a:t>
            </a:r>
            <a:endParaRPr lang="en-US" sz="4000" dirty="0"/>
          </a:p>
        </p:txBody>
      </p:sp>
      <p:graphicFrame>
        <p:nvGraphicFramePr>
          <p:cNvPr id="9" name="tabela duas linguage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44568"/>
                <a:gridCol w="453542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MEI: Carla, Renata, Bruno, Camila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FEE: Ricardo, Fernanda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Promessa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Tempo livre, perfil vivo, contato no mês.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Previsibilidade, escopo e governança.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Tom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Alívio, clareza, frase curta.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Profissional, com SLA e relatório.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Chamada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Diagnóstico de 20 a 30 min no WhatsApp.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Proposta formal ou reunião de escopo.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Canal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Instagram e WhatsApp.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LinkedIn, indicação e proposta.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Nunca dizer</a:t>
                      </a:r>
                      <a:endParaRPr lang="en-US" sz="12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Fee, FTE, governança, squad, dashboard, SLA.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"Baratinho", "mão na massa", "a gente se vira no Zap".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o 71"/>
          <p:cNvSpPr txBox="1"/>
          <p:nvPr/>
        </p:nvSpPr>
        <p:spPr>
          <a:xfrm>
            <a:off x="54864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A linguagem de um público nunca aparece no canal do outro.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Assim, e não assim</a:t>
            </a:r>
            <a:endParaRPr lang="en-US" sz="4000" dirty="0"/>
          </a:p>
        </p:txBody>
      </p:sp>
      <p:sp>
        <p:nvSpPr>
          <p:cNvPr id="3" name="texto 72"/>
          <p:cNvSpPr txBox="1"/>
          <p:nvPr/>
        </p:nvSpPr>
        <p:spPr>
          <a:xfrm>
            <a:off x="548640" y="137160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Não assim</a:t>
            </a:r>
            <a:endParaRPr lang="en-US" sz="1100" dirty="0"/>
          </a:p>
        </p:txBody>
      </p:sp>
      <p:sp>
        <p:nvSpPr>
          <p:cNvPr id="4" name="texto 73"/>
          <p:cNvSpPr txBox="1"/>
          <p:nvPr/>
        </p:nvSpPr>
        <p:spPr>
          <a:xfrm>
            <a:off x="6370168" y="137160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Assim</a:t>
            </a:r>
            <a:endParaRPr lang="en-US" sz="1100" dirty="0"/>
          </a:p>
        </p:txBody>
      </p:sp>
      <p:sp>
        <p:nvSpPr>
          <p:cNvPr id="5" name="linha 74"/>
          <p:cNvSpPr/>
          <p:nvPr/>
        </p:nvSpPr>
        <p:spPr>
          <a:xfrm>
            <a:off x="548640" y="173736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o 75"/>
          <p:cNvSpPr txBox="1"/>
          <p:nvPr/>
        </p:nvSpPr>
        <p:spPr>
          <a:xfrm>
            <a:off x="548640" y="1920240"/>
            <a:ext cx="527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trike="sngStrike" dirty="0">
                <a:solidFill>
                  <a:schemeClr val="accent5"/>
                </a:solidFill>
              </a:rPr>
              <a:t>Sabemos que empreender é desafiador e que manter a presença digital exige dedicação.</a:t>
            </a:r>
            <a:endParaRPr lang="en-US" sz="1600" dirty="0"/>
          </a:p>
        </p:txBody>
      </p:sp>
      <p:sp>
        <p:nvSpPr>
          <p:cNvPr id="7" name="texto 76"/>
          <p:cNvSpPr txBox="1"/>
          <p:nvPr/>
        </p:nvSpPr>
        <p:spPr>
          <a:xfrm>
            <a:off x="6370168" y="1920240"/>
            <a:ext cx="527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Postar depois do expediente não é estratégia. É sobra.</a:t>
            </a:r>
            <a:endParaRPr lang="en-US" sz="2400" dirty="0"/>
          </a:p>
        </p:txBody>
      </p:sp>
      <p:sp>
        <p:nvSpPr>
          <p:cNvPr id="8" name="linha 77"/>
          <p:cNvSpPr/>
          <p:nvPr/>
        </p:nvSpPr>
        <p:spPr>
          <a:xfrm>
            <a:off x="548640" y="320040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o 78"/>
          <p:cNvSpPr txBox="1"/>
          <p:nvPr/>
        </p:nvSpPr>
        <p:spPr>
          <a:xfrm>
            <a:off x="548640" y="3383280"/>
            <a:ext cx="527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trike="sngStrike" dirty="0">
                <a:solidFill>
                  <a:schemeClr val="accent5"/>
                </a:solidFill>
              </a:rPr>
              <a:t>Potencialize seu engajamento com criativos que convertem.</a:t>
            </a:r>
            <a:endParaRPr lang="en-US" sz="1600" dirty="0"/>
          </a:p>
        </p:txBody>
      </p:sp>
      <p:sp>
        <p:nvSpPr>
          <p:cNvPr id="10" name="texto 79"/>
          <p:cNvSpPr txBox="1"/>
          <p:nvPr/>
        </p:nvSpPr>
        <p:spPr>
          <a:xfrm>
            <a:off x="6370168" y="3383280"/>
            <a:ext cx="527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82 em cada 100 pequenos negócios já vendem no WhatsApp. Seu relatório precisa contar essas conversas.</a:t>
            </a:r>
            <a:endParaRPr lang="en-US" sz="2400" dirty="0"/>
          </a:p>
        </p:txBody>
      </p:sp>
      <p:sp>
        <p:nvSpPr>
          <p:cNvPr id="11" name="linha 80"/>
          <p:cNvSpPr/>
          <p:nvPr/>
        </p:nvSpPr>
        <p:spPr>
          <a:xfrm>
            <a:off x="548640" y="466344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o 81"/>
          <p:cNvSpPr txBox="1"/>
          <p:nvPr/>
        </p:nvSpPr>
        <p:spPr>
          <a:xfrm>
            <a:off x="548640" y="4846320"/>
            <a:ext cx="527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trike="sngStrike" dirty="0">
                <a:solidFill>
                  <a:schemeClr val="accent5"/>
                </a:solidFill>
              </a:rPr>
              <a:t>Somos full service com atendimento humanizado.</a:t>
            </a:r>
            <a:endParaRPr lang="en-US" sz="1600" dirty="0"/>
          </a:p>
        </p:txBody>
      </p:sp>
      <p:sp>
        <p:nvSpPr>
          <p:cNvPr id="13" name="texto 82"/>
          <p:cNvSpPr txBox="1"/>
          <p:nvPr/>
        </p:nvSpPr>
        <p:spPr>
          <a:xfrm>
            <a:off x="6370168" y="4846320"/>
            <a:ext cx="527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Não vendemos tráfego para perfil parado. Primeiro o perfil volta a respirar.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Palavras e selos de fonte</a:t>
            </a:r>
            <a:endParaRPr lang="en-US" sz="4000" dirty="0"/>
          </a:p>
        </p:txBody>
      </p:sp>
      <p:sp>
        <p:nvSpPr>
          <p:cNvPr id="3" name="texto 83"/>
          <p:cNvSpPr txBox="1"/>
          <p:nvPr/>
        </p:nvSpPr>
        <p:spPr>
          <a:xfrm>
            <a:off x="548640" y="137160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Usamos</a:t>
            </a:r>
            <a:endParaRPr lang="en-US" sz="1100" dirty="0"/>
          </a:p>
        </p:txBody>
      </p:sp>
      <p:sp>
        <p:nvSpPr>
          <p:cNvPr id="4" name="texto 84"/>
          <p:cNvSpPr txBox="1"/>
          <p:nvPr/>
        </p:nvSpPr>
        <p:spPr>
          <a:xfrm>
            <a:off x="548640" y="1691640"/>
            <a:ext cx="5272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você só aprova, contato, caixa, vitrine, método, fonte, em companhia</a:t>
            </a:r>
            <a:endParaRPr lang="en-US" sz="2200" dirty="0"/>
          </a:p>
        </p:txBody>
      </p:sp>
      <p:sp>
        <p:nvSpPr>
          <p:cNvPr id="5" name="texto 85"/>
          <p:cNvSpPr txBox="1"/>
          <p:nvPr/>
        </p:nvSpPr>
        <p:spPr>
          <a:xfrm>
            <a:off x="6370168" y="137160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Evitamos em público</a:t>
            </a:r>
            <a:endParaRPr lang="en-US" sz="1100" dirty="0"/>
          </a:p>
        </p:txBody>
      </p:sp>
      <p:sp>
        <p:nvSpPr>
          <p:cNvPr id="6" name="texto 86"/>
          <p:cNvSpPr txBox="1"/>
          <p:nvPr/>
        </p:nvSpPr>
        <p:spPr>
          <a:xfrm>
            <a:off x="6370168" y="1691640"/>
            <a:ext cx="5272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strike="sngStrike" dirty="0">
                <a:solidFill>
                  <a:schemeClr val="accent4"/>
                </a:solidFill>
              </a:rPr>
              <a:t>jornada, potencializar, transformar, criativos que convertem, próximo nível</a:t>
            </a:r>
            <a:endParaRPr lang="en-US" sz="1700" dirty="0"/>
          </a:p>
        </p:txBody>
      </p:sp>
      <p:sp>
        <p:nvSpPr>
          <p:cNvPr id="7" name="texto 87"/>
          <p:cNvSpPr txBox="1"/>
          <p:nvPr/>
        </p:nvSpPr>
        <p:spPr>
          <a:xfrm>
            <a:off x="54864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asterisco é o selo do método. Todo número publicado leva um asterisco e a fonte por extenso na mesma peça.</a:t>
            </a:r>
            <a:endParaRPr lang="en-US" sz="1500" dirty="0"/>
          </a:p>
        </p:txBody>
      </p:sp>
      <p:sp>
        <p:nvSpPr>
          <p:cNvPr id="8" name="selo Evidência A"/>
          <p:cNvSpPr/>
          <p:nvPr/>
        </p:nvSpPr>
        <p:spPr>
          <a:xfrm>
            <a:off x="548640" y="3383280"/>
            <a:ext cx="2602154" cy="2377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9" name="texto 88"/>
          <p:cNvSpPr txBox="1"/>
          <p:nvPr/>
        </p:nvSpPr>
        <p:spPr>
          <a:xfrm>
            <a:off x="731520" y="3474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tx2"/>
                </a:solidFill>
              </a:rPr>
              <a:t>*</a:t>
            </a:r>
            <a:endParaRPr lang="en-US" sz="4800" dirty="0"/>
          </a:p>
        </p:txBody>
      </p:sp>
      <p:sp>
        <p:nvSpPr>
          <p:cNvPr id="10" name="texto 89"/>
          <p:cNvSpPr txBox="1"/>
          <p:nvPr/>
        </p:nvSpPr>
        <p:spPr>
          <a:xfrm>
            <a:off x="731520" y="420624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Evidência A</a:t>
            </a:r>
            <a:endParaRPr lang="en-US" sz="1300" dirty="0"/>
          </a:p>
        </p:txBody>
      </p:sp>
      <p:sp>
        <p:nvSpPr>
          <p:cNvPr id="11" name="texto 90"/>
          <p:cNvSpPr txBox="1"/>
          <p:nvPr/>
        </p:nvSpPr>
        <p:spPr>
          <a:xfrm>
            <a:off x="731520" y="4617720"/>
            <a:ext cx="22363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Dado primário: Sebrae, IPEA, IBGE, IAB. Pode virar número grande.</a:t>
            </a:r>
            <a:endParaRPr lang="en-US" sz="1400" dirty="0"/>
          </a:p>
        </p:txBody>
      </p:sp>
      <p:sp>
        <p:nvSpPr>
          <p:cNvPr id="12" name="selo Evidência B"/>
          <p:cNvSpPr/>
          <p:nvPr/>
        </p:nvSpPr>
        <p:spPr>
          <a:xfrm>
            <a:off x="3379394" y="3383280"/>
            <a:ext cx="2602154" cy="2377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3" name="texto 91"/>
          <p:cNvSpPr txBox="1"/>
          <p:nvPr/>
        </p:nvSpPr>
        <p:spPr>
          <a:xfrm>
            <a:off x="3562274" y="3474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tx2"/>
                </a:solidFill>
              </a:rPr>
              <a:t>*</a:t>
            </a:r>
            <a:endParaRPr lang="en-US" sz="4800" dirty="0"/>
          </a:p>
        </p:txBody>
      </p:sp>
      <p:sp>
        <p:nvSpPr>
          <p:cNvPr id="14" name="texto 92"/>
          <p:cNvSpPr txBox="1"/>
          <p:nvPr/>
        </p:nvSpPr>
        <p:spPr>
          <a:xfrm>
            <a:off x="3562274" y="420624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Evidência B</a:t>
            </a:r>
            <a:endParaRPr lang="en-US" sz="1300" dirty="0"/>
          </a:p>
        </p:txBody>
      </p:sp>
      <p:sp>
        <p:nvSpPr>
          <p:cNvPr id="15" name="texto 93"/>
          <p:cNvSpPr txBox="1"/>
          <p:nvPr/>
        </p:nvSpPr>
        <p:spPr>
          <a:xfrm>
            <a:off x="3562274" y="4617720"/>
            <a:ext cx="22363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Benchmark consolidado, sempre com a faixa e a data.</a:t>
            </a:r>
            <a:endParaRPr lang="en-US" sz="1400" dirty="0"/>
          </a:p>
        </p:txBody>
      </p:sp>
      <p:sp>
        <p:nvSpPr>
          <p:cNvPr id="16" name="selo Síntese Dassah"/>
          <p:cNvSpPr/>
          <p:nvPr/>
        </p:nvSpPr>
        <p:spPr>
          <a:xfrm>
            <a:off x="6210148" y="3383280"/>
            <a:ext cx="2602154" cy="2377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texto 94"/>
          <p:cNvSpPr txBox="1"/>
          <p:nvPr/>
        </p:nvSpPr>
        <p:spPr>
          <a:xfrm>
            <a:off x="6393028" y="3474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i="1" dirty="0">
                <a:solidFill>
                  <a:schemeClr val="tx2"/>
                </a:solidFill>
              </a:rPr>
              <a:t>*</a:t>
            </a:r>
            <a:endParaRPr lang="en-US" sz="4800" dirty="0"/>
          </a:p>
        </p:txBody>
      </p:sp>
      <p:sp>
        <p:nvSpPr>
          <p:cNvPr id="18" name="texto 95"/>
          <p:cNvSpPr txBox="1"/>
          <p:nvPr/>
        </p:nvSpPr>
        <p:spPr>
          <a:xfrm>
            <a:off x="6393028" y="420624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Síntese Dassah</a:t>
            </a:r>
            <a:endParaRPr lang="en-US" sz="1300" dirty="0"/>
          </a:p>
        </p:txBody>
      </p:sp>
      <p:sp>
        <p:nvSpPr>
          <p:cNvPr id="19" name="texto 96"/>
          <p:cNvSpPr txBox="1"/>
          <p:nvPr/>
        </p:nvSpPr>
        <p:spPr>
          <a:xfrm>
            <a:off x="6393028" y="4617720"/>
            <a:ext cx="22363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Interpretação assinada. Asterisco em itálico e "leitura Dassah" na fonte.</a:t>
            </a:r>
            <a:endParaRPr lang="en-US" sz="1400" dirty="0"/>
          </a:p>
        </p:txBody>
      </p:sp>
      <p:sp>
        <p:nvSpPr>
          <p:cNvPr id="20" name="selo Hipótese"/>
          <p:cNvSpPr/>
          <p:nvPr/>
        </p:nvSpPr>
        <p:spPr>
          <a:xfrm>
            <a:off x="9040901" y="3383280"/>
            <a:ext cx="2602154" cy="2377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1" name="texto 97"/>
          <p:cNvSpPr txBox="1"/>
          <p:nvPr/>
        </p:nvSpPr>
        <p:spPr>
          <a:xfrm>
            <a:off x="9223781" y="3474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accent5"/>
                </a:solidFill>
              </a:rPr>
              <a:t>*</a:t>
            </a:r>
            <a:endParaRPr lang="en-US" sz="4800" dirty="0"/>
          </a:p>
        </p:txBody>
      </p:sp>
      <p:sp>
        <p:nvSpPr>
          <p:cNvPr id="22" name="texto 98"/>
          <p:cNvSpPr txBox="1"/>
          <p:nvPr/>
        </p:nvSpPr>
        <p:spPr>
          <a:xfrm>
            <a:off x="9223781" y="420624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Hipótese</a:t>
            </a:r>
            <a:endParaRPr lang="en-US" sz="1300" dirty="0"/>
          </a:p>
        </p:txBody>
      </p:sp>
      <p:sp>
        <p:nvSpPr>
          <p:cNvPr id="23" name="texto 99"/>
          <p:cNvSpPr txBox="1"/>
          <p:nvPr/>
        </p:nvSpPr>
        <p:spPr>
          <a:xfrm>
            <a:off x="9223781" y="4617720"/>
            <a:ext cx="22363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Em teste. Nunca aparece em peça pública como fato.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Como aparecemos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Conceito, logo, cor, tipografia e imagem.</a:t>
            </a:r>
            <a:endParaRPr lang="en-US" sz="1800" dirty="0"/>
          </a:p>
        </p:txBody>
      </p:sp>
      <p:pic>
        <p:nvPicPr>
          <p:cNvPr id="4" name="monograma" descr="monogram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31375" y="1463040"/>
            <a:ext cx="2011680" cy="2926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Guardar e revelar</a:t>
            </a:r>
            <a:endParaRPr lang="en-US" sz="4000" dirty="0"/>
          </a:p>
        </p:txBody>
      </p:sp>
      <p:sp>
        <p:nvSpPr>
          <p:cNvPr id="3" name="texto 100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identidade tem dois gestos, os dois tirados da história de Ester: ela guardou quem era e se revelou no tempo certo.</a:t>
            </a:r>
            <a:endParaRPr lang="en-US" sz="1600" dirty="0"/>
          </a:p>
        </p:txBody>
      </p:sp>
      <p:pic>
        <p:nvPicPr>
          <p:cNvPr id="4" name="foto relevo" descr="foto relev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5318608" cy="2651760"/>
          </a:xfrm>
          <a:prstGeom prst="rect">
            <a:avLst/>
          </a:prstGeom>
        </p:spPr>
      </p:pic>
      <p:pic>
        <p:nvPicPr>
          <p:cNvPr id="5" name="foto rasgo" descr="foto rasg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4448" y="1920240"/>
            <a:ext cx="5318608" cy="2651760"/>
          </a:xfrm>
          <a:prstGeom prst="rect">
            <a:avLst/>
          </a:prstGeom>
        </p:spPr>
      </p:pic>
      <p:sp>
        <p:nvSpPr>
          <p:cNvPr id="6" name="texto 101"/>
          <p:cNvSpPr txBox="1"/>
          <p:nvPr/>
        </p:nvSpPr>
        <p:spPr>
          <a:xfrm>
            <a:off x="548640" y="470916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Relevo</a:t>
            </a:r>
            <a:endParaRPr lang="en-US" sz="2600" dirty="0"/>
          </a:p>
        </p:txBody>
      </p:sp>
      <p:sp>
        <p:nvSpPr>
          <p:cNvPr id="7" name="texto 102"/>
          <p:cNvSpPr txBox="1"/>
          <p:nvPr/>
        </p:nvSpPr>
        <p:spPr>
          <a:xfrm>
            <a:off x="548640" y="5166360"/>
            <a:ext cx="531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origem guardada: o "ha" prensado no papel sem tinta. Uso diário, no cartão, envelope, etiqueta e capa.</a:t>
            </a:r>
            <a:endParaRPr lang="en-US" sz="1400" dirty="0"/>
          </a:p>
        </p:txBody>
      </p:sp>
      <p:sp>
        <p:nvSpPr>
          <p:cNvPr id="8" name="texto 103"/>
          <p:cNvSpPr txBox="1"/>
          <p:nvPr/>
        </p:nvSpPr>
        <p:spPr>
          <a:xfrm>
            <a:off x="6324448" y="470916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Rasgo</a:t>
            </a:r>
            <a:endParaRPr lang="en-US" sz="2600" dirty="0"/>
          </a:p>
        </p:txBody>
      </p:sp>
      <p:sp>
        <p:nvSpPr>
          <p:cNvPr id="9" name="texto 104"/>
          <p:cNvSpPr txBox="1"/>
          <p:nvPr/>
        </p:nvSpPr>
        <p:spPr>
          <a:xfrm>
            <a:off x="6324448" y="5166360"/>
            <a:ext cx="531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revelação: o papel claro se abre e mostra o bordô. Só no post fixado da origem, na capa do diagnóstico e no primeiro slide da proposta. Sempre papel real fotografado.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Logo e monograma</a:t>
            </a:r>
            <a:endParaRPr lang="en-US" sz="4000" dirty="0"/>
          </a:p>
        </p:txBody>
      </p:sp>
      <p:sp>
        <p:nvSpPr>
          <p:cNvPr id="3" name="texto 105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Duas partes: a palavra em minúsculas e o monograma, o "a" dentro do "h", que junta o "ha" de Hadassa em uma letra só.</a:t>
            </a:r>
            <a:endParaRPr lang="en-US" sz="1500" dirty="0"/>
          </a:p>
        </p:txBody>
      </p:sp>
      <p:sp>
        <p:nvSpPr>
          <p:cNvPr id="4" name="placa Impressa: &quot;ha&quot; em relevo seco"/>
          <p:cNvSpPr/>
          <p:nvPr/>
        </p:nvSpPr>
        <p:spPr>
          <a:xfrm>
            <a:off x="548640" y="1874520"/>
            <a:ext cx="3515258" cy="187452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5" name="logo Impressa: &quot;ha&quot; em relevo seco" descr="logo Impressa: &quot;ha&quot; em relevo sec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4403" y="2155698"/>
            <a:ext cx="3163733" cy="1312164"/>
          </a:xfrm>
          <a:prstGeom prst="rect">
            <a:avLst/>
          </a:prstGeom>
        </p:spPr>
      </p:pic>
      <p:sp>
        <p:nvSpPr>
          <p:cNvPr id="6" name="texto 106"/>
          <p:cNvSpPr txBox="1"/>
          <p:nvPr/>
        </p:nvSpPr>
        <p:spPr>
          <a:xfrm>
            <a:off x="548640" y="38404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Impressa: "ha" em relevo seco</a:t>
            </a:r>
            <a:endParaRPr lang="en-US" sz="1100" dirty="0"/>
          </a:p>
        </p:txBody>
      </p:sp>
      <p:sp>
        <p:nvSpPr>
          <p:cNvPr id="7" name="placa Digital: dassah co."/>
          <p:cNvSpPr/>
          <p:nvPr/>
        </p:nvSpPr>
        <p:spPr>
          <a:xfrm>
            <a:off x="4338218" y="1874520"/>
            <a:ext cx="3515258" cy="187452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8" name="logo Digital: dassah co." descr="logo Digital: dassah co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77626" y="2155698"/>
            <a:ext cx="2636444" cy="1312164"/>
          </a:xfrm>
          <a:prstGeom prst="rect">
            <a:avLst/>
          </a:prstGeom>
        </p:spPr>
      </p:pic>
      <p:sp>
        <p:nvSpPr>
          <p:cNvPr id="9" name="texto 107"/>
          <p:cNvSpPr txBox="1"/>
          <p:nvPr/>
        </p:nvSpPr>
        <p:spPr>
          <a:xfrm>
            <a:off x="4338218" y="38404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Digital: dassah co.</a:t>
            </a:r>
            <a:endParaRPr lang="en-US" sz="1100" dirty="0"/>
          </a:p>
        </p:txBody>
      </p:sp>
      <p:sp>
        <p:nvSpPr>
          <p:cNvPr id="10" name="texto 108"/>
          <p:cNvSpPr txBox="1"/>
          <p:nvPr/>
        </p:nvSpPr>
        <p:spPr>
          <a:xfrm>
            <a:off x="5821528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co.</a:t>
            </a:r>
            <a:endParaRPr lang="en-US" sz="1200" dirty="0"/>
          </a:p>
        </p:txBody>
      </p:sp>
      <p:sp>
        <p:nvSpPr>
          <p:cNvPr id="11" name="placa Monograma: avatar e selo"/>
          <p:cNvSpPr/>
          <p:nvPr/>
        </p:nvSpPr>
        <p:spPr>
          <a:xfrm>
            <a:off x="8127797" y="1874520"/>
            <a:ext cx="3515258" cy="187452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2" name="logo Monograma: avatar e selo" descr="logo Monograma: avatar e sel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06611" y="2155698"/>
            <a:ext cx="1757629" cy="1312164"/>
          </a:xfrm>
          <a:prstGeom prst="rect">
            <a:avLst/>
          </a:prstGeom>
        </p:spPr>
      </p:pic>
      <p:sp>
        <p:nvSpPr>
          <p:cNvPr id="13" name="texto 109"/>
          <p:cNvSpPr txBox="1"/>
          <p:nvPr/>
        </p:nvSpPr>
        <p:spPr>
          <a:xfrm>
            <a:off x="8127797" y="38404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Monograma: avatar e selo</a:t>
            </a:r>
            <a:endParaRPr lang="en-US" sz="1100" dirty="0"/>
          </a:p>
        </p:txBody>
      </p:sp>
      <p:pic>
        <p:nvPicPr>
          <p:cNvPr id="14" name="foto monograma em relevo" descr="foto monograma em relevo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4251960"/>
            <a:ext cx="1828800" cy="1691640"/>
          </a:xfrm>
          <a:prstGeom prst="rect">
            <a:avLst/>
          </a:prstGeom>
        </p:spPr>
      </p:pic>
      <p:sp>
        <p:nvSpPr>
          <p:cNvPr id="15" name="texto 110"/>
          <p:cNvSpPr txBox="1"/>
          <p:nvPr/>
        </p:nvSpPr>
        <p:spPr>
          <a:xfrm>
            <a:off x="2651760" y="429768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Acabamento de referência: monograma em relevo seco. O desenho aqui é uma aproximação com a Fraunces; o monograma final, com o "a" nascendo da haste do "h", precisa ser feito em vetor.</a:t>
            </a:r>
            <a:endParaRPr lang="en-US" sz="1400" dirty="0"/>
          </a:p>
        </p:txBody>
      </p:sp>
      <p:sp>
        <p:nvSpPr>
          <p:cNvPr id="16" name="texto 111"/>
          <p:cNvSpPr txBox="1"/>
          <p:nvPr/>
        </p:nvSpPr>
        <p:spPr>
          <a:xfrm>
            <a:off x="2651760" y="52578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Tamanho mínimo: 20 mm no impresso e 90 px no digital. Monograma a partir de 16 px. Área de proteção: a altura do "d".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Usos errados do logo</a:t>
            </a:r>
            <a:endParaRPr lang="en-US" sz="4000" dirty="0"/>
          </a:p>
        </p:txBody>
      </p:sp>
      <p:sp>
        <p:nvSpPr>
          <p:cNvPr id="3" name="linha 112"/>
          <p:cNvSpPr/>
          <p:nvPr/>
        </p:nvSpPr>
        <p:spPr>
          <a:xfrm>
            <a:off x="548640" y="1463040"/>
            <a:ext cx="6583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o 113"/>
          <p:cNvSpPr txBox="1"/>
          <p:nvPr/>
        </p:nvSpPr>
        <p:spPr>
          <a:xfrm>
            <a:off x="54864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200" dirty="0"/>
          </a:p>
        </p:txBody>
      </p:sp>
      <p:sp>
        <p:nvSpPr>
          <p:cNvPr id="5" name="texto 114"/>
          <p:cNvSpPr txBox="1"/>
          <p:nvPr/>
        </p:nvSpPr>
        <p:spPr>
          <a:xfrm>
            <a:off x="1051560" y="16276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Dourado, metalizado ou brilho de estrela</a:t>
            </a:r>
            <a:endParaRPr lang="en-US" sz="1800" dirty="0"/>
          </a:p>
        </p:txBody>
      </p:sp>
      <p:sp>
        <p:nvSpPr>
          <p:cNvPr id="6" name="linha 115"/>
          <p:cNvSpPr/>
          <p:nvPr/>
        </p:nvSpPr>
        <p:spPr>
          <a:xfrm>
            <a:off x="548640" y="2331720"/>
            <a:ext cx="6583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o 116"/>
          <p:cNvSpPr txBox="1"/>
          <p:nvPr/>
        </p:nvSpPr>
        <p:spPr>
          <a:xfrm>
            <a:off x="54864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200" dirty="0"/>
          </a:p>
        </p:txBody>
      </p:sp>
      <p:sp>
        <p:nvSpPr>
          <p:cNvPr id="8" name="texto 117"/>
          <p:cNvSpPr txBox="1"/>
          <p:nvPr/>
        </p:nvSpPr>
        <p:spPr>
          <a:xfrm>
            <a:off x="1051560" y="24963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Letra cursiva ou caixa-alta</a:t>
            </a:r>
            <a:endParaRPr lang="en-US" sz="1800" dirty="0"/>
          </a:p>
        </p:txBody>
      </p:sp>
      <p:sp>
        <p:nvSpPr>
          <p:cNvPr id="9" name="linha 118"/>
          <p:cNvSpPr/>
          <p:nvPr/>
        </p:nvSpPr>
        <p:spPr>
          <a:xfrm>
            <a:off x="548640" y="3200400"/>
            <a:ext cx="6583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o 119"/>
          <p:cNvSpPr txBox="1"/>
          <p:nvPr/>
        </p:nvSpPr>
        <p:spPr>
          <a:xfrm>
            <a:off x="548640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200" dirty="0"/>
          </a:p>
        </p:txBody>
      </p:sp>
      <p:sp>
        <p:nvSpPr>
          <p:cNvPr id="11" name="texto 120"/>
          <p:cNvSpPr txBox="1"/>
          <p:nvPr/>
        </p:nvSpPr>
        <p:spPr>
          <a:xfrm>
            <a:off x="1051560" y="33649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Relevo simulado com sombra pesada no digital</a:t>
            </a:r>
            <a:endParaRPr lang="en-US" sz="1800" dirty="0"/>
          </a:p>
        </p:txBody>
      </p:sp>
      <p:sp>
        <p:nvSpPr>
          <p:cNvPr id="12" name="linha 121"/>
          <p:cNvSpPr/>
          <p:nvPr/>
        </p:nvSpPr>
        <p:spPr>
          <a:xfrm>
            <a:off x="548640" y="4069080"/>
            <a:ext cx="6583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o 122"/>
          <p:cNvSpPr txBox="1"/>
          <p:nvPr/>
        </p:nvSpPr>
        <p:spPr>
          <a:xfrm>
            <a:off x="548640" y="4206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200" dirty="0"/>
          </a:p>
        </p:txBody>
      </p:sp>
      <p:sp>
        <p:nvSpPr>
          <p:cNvPr id="14" name="texto 123"/>
          <p:cNvSpPr txBox="1"/>
          <p:nvPr/>
        </p:nvSpPr>
        <p:spPr>
          <a:xfrm>
            <a:off x="1051560" y="4233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Ramo de folhas, vaso ou tecido de mockup</a:t>
            </a:r>
            <a:endParaRPr lang="en-US" sz="1800" dirty="0"/>
          </a:p>
        </p:txBody>
      </p:sp>
      <p:sp>
        <p:nvSpPr>
          <p:cNvPr id="15" name="linha 124"/>
          <p:cNvSpPr/>
          <p:nvPr/>
        </p:nvSpPr>
        <p:spPr>
          <a:xfrm>
            <a:off x="548640" y="4937760"/>
            <a:ext cx="6583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o 125"/>
          <p:cNvSpPr txBox="1"/>
          <p:nvPr/>
        </p:nvSpPr>
        <p:spPr>
          <a:xfrm>
            <a:off x="548640" y="5074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200" dirty="0"/>
          </a:p>
        </p:txBody>
      </p:sp>
      <p:sp>
        <p:nvSpPr>
          <p:cNvPr id="17" name="texto 126"/>
          <p:cNvSpPr txBox="1"/>
          <p:nvPr/>
        </p:nvSpPr>
        <p:spPr>
          <a:xfrm>
            <a:off x="1051560" y="510235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Distorcer, condensar ou girar a palavra</a:t>
            </a:r>
            <a:endParaRPr lang="en-US" sz="1800" dirty="0"/>
          </a:p>
        </p:txBody>
      </p:sp>
      <p:pic>
        <p:nvPicPr>
          <p:cNvPr id="18" name="logo atual" descr="logo atua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463040"/>
            <a:ext cx="3749040" cy="3749040"/>
          </a:xfrm>
          <a:prstGeom prst="rect">
            <a:avLst/>
          </a:prstGeom>
        </p:spPr>
      </p:pic>
      <p:sp>
        <p:nvSpPr>
          <p:cNvPr id="19" name="texto 127"/>
          <p:cNvSpPr txBox="1"/>
          <p:nvPr/>
        </p:nvSpPr>
        <p:spPr>
          <a:xfrm>
            <a:off x="7863840" y="5303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marca atual: creme, serifada clássica, ramo e brilho dourados. É o caminho que fica para trás.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Cor: tom sobre tom</a:t>
            </a:r>
            <a:endParaRPr lang="en-US" sz="4000" dirty="0"/>
          </a:p>
        </p:txBody>
      </p:sp>
      <p:sp>
        <p:nvSpPr>
          <p:cNvPr id="3" name="cor Bordô"/>
          <p:cNvSpPr/>
          <p:nvPr/>
        </p:nvSpPr>
        <p:spPr>
          <a:xfrm>
            <a:off x="548640" y="1371600"/>
            <a:ext cx="2377440" cy="2377440"/>
          </a:xfrm>
          <a:prstGeom prst="rect">
            <a:avLst/>
          </a:prstGeom>
          <a:solidFill>
            <a:schemeClr val="tx2"/>
          </a:solidFill>
          <a:ln w="9525">
            <a:solidFill>
              <a:srgbClr val="B39E97"/>
            </a:solidFill>
            <a:prstDash val="solid"/>
          </a:ln>
        </p:spPr>
      </p:sp>
      <p:sp>
        <p:nvSpPr>
          <p:cNvPr id="4" name="texto 128"/>
          <p:cNvSpPr txBox="1"/>
          <p:nvPr/>
        </p:nvSpPr>
        <p:spPr>
          <a:xfrm>
            <a:off x="68580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Bordô</a:t>
            </a:r>
            <a:endParaRPr lang="en-US" sz="1400" dirty="0"/>
          </a:p>
        </p:txBody>
      </p:sp>
      <p:sp>
        <p:nvSpPr>
          <p:cNvPr id="5" name="texto 129"/>
          <p:cNvSpPr txBox="1"/>
          <p:nvPr/>
        </p:nvSpPr>
        <p:spPr>
          <a:xfrm>
            <a:off x="685800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#45171B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RGB 69 23 27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CMYK 0 67 61 73</a:t>
            </a:r>
            <a:endParaRPr lang="en-US" sz="1000" dirty="0"/>
          </a:p>
        </p:txBody>
      </p:sp>
      <p:sp>
        <p:nvSpPr>
          <p:cNvPr id="6" name="cor Chocolate"/>
          <p:cNvSpPr/>
          <p:nvPr/>
        </p:nvSpPr>
        <p:spPr>
          <a:xfrm>
            <a:off x="2962656" y="1371600"/>
            <a:ext cx="2011680" cy="2377440"/>
          </a:xfrm>
          <a:prstGeom prst="rect">
            <a:avLst/>
          </a:prstGeom>
          <a:solidFill>
            <a:schemeClr val="tx1"/>
          </a:solidFill>
          <a:ln w="9525">
            <a:solidFill>
              <a:srgbClr val="B39E97"/>
            </a:solidFill>
            <a:prstDash val="solid"/>
          </a:ln>
        </p:spPr>
      </p:sp>
      <p:sp>
        <p:nvSpPr>
          <p:cNvPr id="7" name="texto 130"/>
          <p:cNvSpPr txBox="1"/>
          <p:nvPr/>
        </p:nvSpPr>
        <p:spPr>
          <a:xfrm>
            <a:off x="3099816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Chocolate</a:t>
            </a:r>
            <a:endParaRPr lang="en-US" sz="1400" dirty="0"/>
          </a:p>
        </p:txBody>
      </p:sp>
      <p:sp>
        <p:nvSpPr>
          <p:cNvPr id="8" name="texto 131"/>
          <p:cNvSpPr txBox="1"/>
          <p:nvPr/>
        </p:nvSpPr>
        <p:spPr>
          <a:xfrm>
            <a:off x="3099816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#2A0B0F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RGB 42 11 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CMYK 0 74 64 84</a:t>
            </a:r>
            <a:endParaRPr lang="en-US" sz="1000" dirty="0"/>
          </a:p>
        </p:txBody>
      </p:sp>
      <p:sp>
        <p:nvSpPr>
          <p:cNvPr id="9" name="cor Escova"/>
          <p:cNvSpPr/>
          <p:nvPr/>
        </p:nvSpPr>
        <p:spPr>
          <a:xfrm>
            <a:off x="5010912" y="1371600"/>
            <a:ext cx="2011680" cy="2377440"/>
          </a:xfrm>
          <a:prstGeom prst="rect">
            <a:avLst/>
          </a:prstGeom>
          <a:solidFill>
            <a:schemeClr val="bg2"/>
          </a:solidFill>
          <a:ln w="9525">
            <a:solidFill>
              <a:srgbClr val="B39E97"/>
            </a:solidFill>
            <a:prstDash val="solid"/>
          </a:ln>
        </p:spPr>
      </p:sp>
      <p:sp>
        <p:nvSpPr>
          <p:cNvPr id="10" name="texto 132"/>
          <p:cNvSpPr txBox="1"/>
          <p:nvPr/>
        </p:nvSpPr>
        <p:spPr>
          <a:xfrm>
            <a:off x="5148072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Escova</a:t>
            </a:r>
            <a:endParaRPr lang="en-US" sz="1400" dirty="0"/>
          </a:p>
        </p:txBody>
      </p:sp>
      <p:sp>
        <p:nvSpPr>
          <p:cNvPr id="11" name="texto 133"/>
          <p:cNvSpPr txBox="1"/>
          <p:nvPr/>
        </p:nvSpPr>
        <p:spPr>
          <a:xfrm>
            <a:off x="5148072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#D8D1C2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RGB 216 209 194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CMYK 0 3 10 15</a:t>
            </a:r>
            <a:endParaRPr lang="en-US" sz="1000" dirty="0"/>
          </a:p>
        </p:txBody>
      </p:sp>
      <p:sp>
        <p:nvSpPr>
          <p:cNvPr id="12" name="cor Seda"/>
          <p:cNvSpPr/>
          <p:nvPr/>
        </p:nvSpPr>
        <p:spPr>
          <a:xfrm>
            <a:off x="7059168" y="1371600"/>
            <a:ext cx="1737360" cy="2377440"/>
          </a:xfrm>
          <a:prstGeom prst="rect">
            <a:avLst/>
          </a:prstGeom>
          <a:solidFill>
            <a:schemeClr val="bg1"/>
          </a:solidFill>
          <a:ln w="9525">
            <a:solidFill>
              <a:srgbClr val="B39E97"/>
            </a:solidFill>
            <a:prstDash val="solid"/>
          </a:ln>
        </p:spPr>
      </p:sp>
      <p:sp>
        <p:nvSpPr>
          <p:cNvPr id="13" name="texto 134"/>
          <p:cNvSpPr txBox="1"/>
          <p:nvPr/>
        </p:nvSpPr>
        <p:spPr>
          <a:xfrm>
            <a:off x="7196328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Seda</a:t>
            </a:r>
            <a:endParaRPr lang="en-US" sz="1400" dirty="0"/>
          </a:p>
        </p:txBody>
      </p:sp>
      <p:sp>
        <p:nvSpPr>
          <p:cNvPr id="14" name="texto 135"/>
          <p:cNvSpPr txBox="1"/>
          <p:nvPr/>
        </p:nvSpPr>
        <p:spPr>
          <a:xfrm>
            <a:off x="7196328" y="2971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#EFE7D8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RGB 239 231 216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CMYK 0 3 10 6</a:t>
            </a:r>
            <a:endParaRPr lang="en-US" sz="1000" dirty="0"/>
          </a:p>
        </p:txBody>
      </p:sp>
      <p:sp>
        <p:nvSpPr>
          <p:cNvPr id="15" name="cor Âmbar"/>
          <p:cNvSpPr/>
          <p:nvPr/>
        </p:nvSpPr>
        <p:spPr>
          <a:xfrm>
            <a:off x="8833104" y="1371600"/>
            <a:ext cx="1417320" cy="2377440"/>
          </a:xfrm>
          <a:prstGeom prst="rect">
            <a:avLst/>
          </a:prstGeom>
          <a:solidFill>
            <a:schemeClr val="accent2"/>
          </a:solidFill>
          <a:ln w="9525">
            <a:solidFill>
              <a:srgbClr val="B39E97"/>
            </a:solidFill>
            <a:prstDash val="solid"/>
          </a:ln>
        </p:spPr>
      </p:sp>
      <p:sp>
        <p:nvSpPr>
          <p:cNvPr id="16" name="texto 136"/>
          <p:cNvSpPr txBox="1"/>
          <p:nvPr/>
        </p:nvSpPr>
        <p:spPr>
          <a:xfrm>
            <a:off x="8970264" y="2606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Âmbar</a:t>
            </a:r>
            <a:endParaRPr lang="en-US" sz="1400" dirty="0"/>
          </a:p>
        </p:txBody>
      </p:sp>
      <p:sp>
        <p:nvSpPr>
          <p:cNvPr id="17" name="texto 137"/>
          <p:cNvSpPr txBox="1"/>
          <p:nvPr/>
        </p:nvSpPr>
        <p:spPr>
          <a:xfrm>
            <a:off x="8970264" y="29718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#A8641E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RGB 168 100 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CMYK 0 40 82 34</a:t>
            </a:r>
            <a:endParaRPr lang="en-US" sz="1000" dirty="0"/>
          </a:p>
        </p:txBody>
      </p:sp>
      <p:sp>
        <p:nvSpPr>
          <p:cNvPr id="18" name="cor Lacre"/>
          <p:cNvSpPr/>
          <p:nvPr/>
        </p:nvSpPr>
        <p:spPr>
          <a:xfrm>
            <a:off x="10287000" y="1371600"/>
            <a:ext cx="1536192" cy="2377440"/>
          </a:xfrm>
          <a:prstGeom prst="rect">
            <a:avLst/>
          </a:prstGeom>
          <a:solidFill>
            <a:schemeClr val="accent3"/>
          </a:solidFill>
          <a:ln w="9525">
            <a:solidFill>
              <a:srgbClr val="B39E97"/>
            </a:solidFill>
            <a:prstDash val="solid"/>
          </a:ln>
        </p:spPr>
      </p:sp>
      <p:sp>
        <p:nvSpPr>
          <p:cNvPr id="19" name="texto 138"/>
          <p:cNvSpPr txBox="1"/>
          <p:nvPr/>
        </p:nvSpPr>
        <p:spPr>
          <a:xfrm>
            <a:off x="10424160" y="260604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Lacre</a:t>
            </a:r>
            <a:endParaRPr lang="en-US" sz="1400" dirty="0"/>
          </a:p>
        </p:txBody>
      </p:sp>
      <p:sp>
        <p:nvSpPr>
          <p:cNvPr id="20" name="texto 139"/>
          <p:cNvSpPr txBox="1"/>
          <p:nvPr/>
        </p:nvSpPr>
        <p:spPr>
          <a:xfrm>
            <a:off x="10424160" y="297180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#B3261E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RGB 179 38 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CMYK 0 79 83 30</a:t>
            </a:r>
            <a:endParaRPr lang="en-US" sz="1000" dirty="0"/>
          </a:p>
        </p:txBody>
      </p:sp>
      <p:sp>
        <p:nvSpPr>
          <p:cNvPr id="21" name="texto 140"/>
          <p:cNvSpPr txBox="1"/>
          <p:nvPr/>
        </p:nvSpPr>
        <p:spPr>
          <a:xfrm>
            <a:off x="548640" y="40690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Bordô e chocolate fazem 60% da peça, escova e seda 35%. O âmbar aparece na fotografia e em detalhes mínimos, nunca em texto pequeno. O lacre fica para a letra da Victoria e o selo de cera, uma vez por peça.</a:t>
            </a:r>
            <a:endParaRPr lang="en-US" sz="1500" dirty="0"/>
          </a:p>
        </p:txBody>
      </p:sp>
      <p:graphicFrame>
        <p:nvGraphicFramePr>
          <p:cNvPr id="16" name="tabela contras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4023360"/>
          <a:ext cx="4023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Par aprovado</a:t>
                      </a:r>
                      <a:endParaRPr lang="en-US" sz="11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Contraste</a:t>
                      </a:r>
                      <a:endParaRPr lang="en-US" sz="11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Bordô sobre seda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12,3 : 1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Escova sobre chocolate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12,0 : 1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Escova sobre bordô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9,9 : 1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Lacre sobre seda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5,3 : 1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o 141"/>
          <p:cNvSpPr txBox="1"/>
          <p:nvPr/>
        </p:nvSpPr>
        <p:spPr>
          <a:xfrm>
            <a:off x="7589520" y="5806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CMYK aproximado. Fechar com prova de cor na gráfica.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Tipografia</a:t>
            </a:r>
            <a:endParaRPr lang="en-US" sz="4000" dirty="0"/>
          </a:p>
        </p:txBody>
      </p:sp>
      <p:sp>
        <p:nvSpPr>
          <p:cNvPr id="3" name="fonte Fraunces"/>
          <p:cNvSpPr/>
          <p:nvPr/>
        </p:nvSpPr>
        <p:spPr>
          <a:xfrm>
            <a:off x="548640" y="1371600"/>
            <a:ext cx="2567864" cy="3291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o 142"/>
          <p:cNvSpPr txBox="1"/>
          <p:nvPr/>
        </p:nvSpPr>
        <p:spPr>
          <a:xfrm>
            <a:off x="777240" y="155448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dassah</a:t>
            </a:r>
            <a:endParaRPr lang="en-US" sz="4000" dirty="0"/>
          </a:p>
        </p:txBody>
      </p:sp>
      <p:sp>
        <p:nvSpPr>
          <p:cNvPr id="5" name="texto 143"/>
          <p:cNvSpPr txBox="1"/>
          <p:nvPr/>
        </p:nvSpPr>
        <p:spPr>
          <a:xfrm>
            <a:off x="777240" y="26974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Fraunces</a:t>
            </a:r>
            <a:endParaRPr lang="en-US" sz="1300" dirty="0"/>
          </a:p>
        </p:txBody>
      </p:sp>
      <p:sp>
        <p:nvSpPr>
          <p:cNvPr id="6" name="texto 144"/>
          <p:cNvSpPr txBox="1"/>
          <p:nvPr/>
        </p:nvSpPr>
        <p:spPr>
          <a:xfrm>
            <a:off x="777240" y="310896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Só a marca e o nome da Victoria. Serifada com curvas próprias, em minúsculas.</a:t>
            </a:r>
            <a:endParaRPr lang="en-US" sz="1400" dirty="0"/>
          </a:p>
        </p:txBody>
      </p:sp>
      <p:sp>
        <p:nvSpPr>
          <p:cNvPr id="7" name="fonte Instrument Serif"/>
          <p:cNvSpPr/>
          <p:nvPr/>
        </p:nvSpPr>
        <p:spPr>
          <a:xfrm>
            <a:off x="3390824" y="1371600"/>
            <a:ext cx="2567864" cy="3291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o 145"/>
          <p:cNvSpPr txBox="1"/>
          <p:nvPr/>
        </p:nvSpPr>
        <p:spPr>
          <a:xfrm>
            <a:off x="3619424" y="155448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SUMIR</a:t>
            </a:r>
            <a:endParaRPr lang="en-US" sz="4400" dirty="0"/>
          </a:p>
        </p:txBody>
      </p:sp>
      <p:sp>
        <p:nvSpPr>
          <p:cNvPr id="9" name="texto 146"/>
          <p:cNvSpPr txBox="1"/>
          <p:nvPr/>
        </p:nvSpPr>
        <p:spPr>
          <a:xfrm>
            <a:off x="3619424" y="26974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Instrument Serif</a:t>
            </a:r>
            <a:endParaRPr lang="en-US" sz="1300" dirty="0"/>
          </a:p>
        </p:txBody>
      </p:sp>
      <p:sp>
        <p:nvSpPr>
          <p:cNvPr id="10" name="texto 147"/>
          <p:cNvSpPr txBox="1"/>
          <p:nvPr/>
        </p:nvSpPr>
        <p:spPr>
          <a:xfrm>
            <a:off x="3619424" y="310896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Títulos grandes. Caixa-alta condensada para frases de impacto, ou normal para títulos de seção.</a:t>
            </a:r>
            <a:endParaRPr lang="en-US" sz="1400" dirty="0"/>
          </a:p>
        </p:txBody>
      </p:sp>
      <p:sp>
        <p:nvSpPr>
          <p:cNvPr id="11" name="fonte Source Serif 4"/>
          <p:cNvSpPr/>
          <p:nvPr/>
        </p:nvSpPr>
        <p:spPr>
          <a:xfrm>
            <a:off x="6233008" y="1371600"/>
            <a:ext cx="2567864" cy="3291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xto 148"/>
          <p:cNvSpPr txBox="1"/>
          <p:nvPr/>
        </p:nvSpPr>
        <p:spPr>
          <a:xfrm>
            <a:off x="6461608" y="155448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Aa Rr</a:t>
            </a:r>
            <a:endParaRPr lang="en-US" sz="4000" dirty="0"/>
          </a:p>
        </p:txBody>
      </p:sp>
      <p:sp>
        <p:nvSpPr>
          <p:cNvPr id="13" name="texto 149"/>
          <p:cNvSpPr txBox="1"/>
          <p:nvPr/>
        </p:nvSpPr>
        <p:spPr>
          <a:xfrm>
            <a:off x="6461608" y="26974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 Serif 4</a:t>
            </a:r>
            <a:endParaRPr lang="en-US" sz="1300" dirty="0"/>
          </a:p>
        </p:txBody>
      </p:sp>
      <p:sp>
        <p:nvSpPr>
          <p:cNvPr id="14" name="texto 150"/>
          <p:cNvSpPr txBox="1"/>
          <p:nvPr/>
        </p:nvSpPr>
        <p:spPr>
          <a:xfrm>
            <a:off x="6461608" y="310896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Texto corrido, propostas e legendas longas. O itálico explica os asteriscos.</a:t>
            </a:r>
            <a:endParaRPr lang="en-US" sz="1400" dirty="0"/>
          </a:p>
        </p:txBody>
      </p:sp>
      <p:sp>
        <p:nvSpPr>
          <p:cNvPr id="15" name="fonte Hanken Grotesk"/>
          <p:cNvSpPr/>
          <p:nvPr/>
        </p:nvSpPr>
        <p:spPr>
          <a:xfrm>
            <a:off x="9075191" y="1371600"/>
            <a:ext cx="2567864" cy="3291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xto 151"/>
          <p:cNvSpPr txBox="1"/>
          <p:nvPr/>
        </p:nvSpPr>
        <p:spPr>
          <a:xfrm>
            <a:off x="9303791" y="155448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Aa 82</a:t>
            </a:r>
            <a:endParaRPr lang="en-US" sz="4000" dirty="0"/>
          </a:p>
        </p:txBody>
      </p:sp>
      <p:sp>
        <p:nvSpPr>
          <p:cNvPr id="17" name="texto 152"/>
          <p:cNvSpPr txBox="1"/>
          <p:nvPr/>
        </p:nvSpPr>
        <p:spPr>
          <a:xfrm>
            <a:off x="9303791" y="26974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Hanken Grotesk</a:t>
            </a:r>
            <a:endParaRPr lang="en-US" sz="1300" dirty="0"/>
          </a:p>
        </p:txBody>
      </p:sp>
      <p:sp>
        <p:nvSpPr>
          <p:cNvPr id="18" name="texto 153"/>
          <p:cNvSpPr txBox="1"/>
          <p:nvPr/>
        </p:nvSpPr>
        <p:spPr>
          <a:xfrm>
            <a:off x="9303791" y="310896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Apoio: rótulos, contato, fonte de dado. Sempre pequena e em caixa baixa.</a:t>
            </a:r>
            <a:endParaRPr lang="en-US" sz="1400" dirty="0"/>
          </a:p>
        </p:txBody>
      </p:sp>
      <p:sp>
        <p:nvSpPr>
          <p:cNvPr id="19" name="texto 154"/>
          <p:cNvSpPr txBox="1"/>
          <p:nvPr/>
        </p:nvSpPr>
        <p:spPr>
          <a:xfrm>
            <a:off x="548640" y="4937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3"/>
                </a:solidFill>
                <a:latin typeface="Mrs Saint Delafield" pitchFamily="34" charset="0"/>
                <a:ea typeface="Mrs Saint Delafield" pitchFamily="34" charset="-122"/>
                <a:cs typeface="Mrs Saint Delafield" pitchFamily="34" charset="-120"/>
              </a:rPr>
              <a:t>com cuidado</a:t>
            </a:r>
            <a:endParaRPr lang="en-US" sz="4000" dirty="0"/>
          </a:p>
        </p:txBody>
      </p:sp>
      <p:sp>
        <p:nvSpPr>
          <p:cNvPr id="20" name="texto 155"/>
          <p:cNvSpPr txBox="1"/>
          <p:nvPr/>
        </p:nvSpPr>
        <p:spPr>
          <a:xfrm>
            <a:off x="4389120" y="493776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 manuscrito é a letra real da Victoria, escaneada. A fonte ao lado só ocupa o lugar. Todas as fontes são gratuitas no Google Fonts e precisam estar instaladas no computador para este arquivo abrir com a aparência certa.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Imagem: fotos escuras, luz quente e lateral</a:t>
            </a:r>
            <a:endParaRPr lang="en-US" sz="4000" dirty="0"/>
          </a:p>
        </p:txBody>
      </p:sp>
      <p:pic>
        <p:nvPicPr>
          <p:cNvPr id="3" name="foto retrato" descr="foto retrat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1734769" cy="2168462"/>
          </a:xfrm>
          <a:prstGeom prst="rect">
            <a:avLst/>
          </a:prstGeom>
        </p:spPr>
      </p:pic>
      <p:pic>
        <p:nvPicPr>
          <p:cNvPr id="4" name="foto celular" descr="foto celula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20569" y="1371600"/>
            <a:ext cx="1734769" cy="2168462"/>
          </a:xfrm>
          <a:prstGeom prst="rect">
            <a:avLst/>
          </a:prstGeom>
        </p:spPr>
      </p:pic>
      <p:pic>
        <p:nvPicPr>
          <p:cNvPr id="5" name="foto pasta" descr="foto pasta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92498" y="1371600"/>
            <a:ext cx="1734769" cy="2168462"/>
          </a:xfrm>
          <a:prstGeom prst="rect">
            <a:avLst/>
          </a:prstGeom>
        </p:spPr>
      </p:pic>
      <p:pic>
        <p:nvPicPr>
          <p:cNvPr id="6" name="foto lacre" descr="foto lacr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64428" y="1371600"/>
            <a:ext cx="1734769" cy="2168462"/>
          </a:xfrm>
          <a:prstGeom prst="rect">
            <a:avLst/>
          </a:prstGeom>
        </p:spPr>
      </p:pic>
      <p:pic>
        <p:nvPicPr>
          <p:cNvPr id="7" name="foto calendario" descr="foto calendario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36357" y="1371600"/>
            <a:ext cx="1734769" cy="2168462"/>
          </a:xfrm>
          <a:prstGeom prst="rect">
            <a:avLst/>
          </a:prstGeom>
        </p:spPr>
      </p:pic>
      <p:pic>
        <p:nvPicPr>
          <p:cNvPr id="8" name="foto assinatura" descr="foto assinatura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908286" y="1371600"/>
            <a:ext cx="1734769" cy="2168462"/>
          </a:xfrm>
          <a:prstGeom prst="rect">
            <a:avLst/>
          </a:prstGeom>
        </p:spPr>
      </p:pic>
      <p:sp>
        <p:nvSpPr>
          <p:cNvPr id="9" name="texto 156"/>
          <p:cNvSpPr txBox="1"/>
          <p:nvPr/>
        </p:nvSpPr>
        <p:spPr>
          <a:xfrm>
            <a:off x="548640" y="3794760"/>
            <a:ext cx="17347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Retrato</a:t>
            </a:r>
            <a:endParaRPr lang="en-US" sz="1200" dirty="0"/>
          </a:p>
        </p:txBody>
      </p:sp>
      <p:sp>
        <p:nvSpPr>
          <p:cNvPr id="10" name="texto 157"/>
          <p:cNvSpPr txBox="1"/>
          <p:nvPr/>
        </p:nvSpPr>
        <p:spPr>
          <a:xfrm>
            <a:off x="548640" y="4114800"/>
            <a:ext cx="17347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 Victoria olhando para a câmera. Um por mês.</a:t>
            </a:r>
            <a:endParaRPr lang="en-US" sz="1300" dirty="0"/>
          </a:p>
        </p:txBody>
      </p:sp>
      <p:sp>
        <p:nvSpPr>
          <p:cNvPr id="11" name="texto 158"/>
          <p:cNvSpPr txBox="1"/>
          <p:nvPr/>
        </p:nvSpPr>
        <p:spPr>
          <a:xfrm>
            <a:off x="2420569" y="3794760"/>
            <a:ext cx="17347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Mãos e processo</a:t>
            </a:r>
            <a:endParaRPr lang="en-US" sz="1200" dirty="0"/>
          </a:p>
        </p:txBody>
      </p:sp>
      <p:sp>
        <p:nvSpPr>
          <p:cNvPr id="12" name="texto 159"/>
          <p:cNvSpPr txBox="1"/>
          <p:nvPr/>
        </p:nvSpPr>
        <p:spPr>
          <a:xfrm>
            <a:off x="2420569" y="4114800"/>
            <a:ext cx="17347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Aprovar no celular, marcar o calendário.</a:t>
            </a:r>
            <a:endParaRPr lang="en-US" sz="1300" dirty="0"/>
          </a:p>
        </p:txBody>
      </p:sp>
      <p:sp>
        <p:nvSpPr>
          <p:cNvPr id="13" name="texto 160"/>
          <p:cNvSpPr txBox="1"/>
          <p:nvPr/>
        </p:nvSpPr>
        <p:spPr>
          <a:xfrm>
            <a:off x="4292498" y="3794760"/>
            <a:ext cx="17347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Objetos da marca</a:t>
            </a:r>
            <a:endParaRPr lang="en-US" sz="1200" dirty="0"/>
          </a:p>
        </p:txBody>
      </p:sp>
      <p:sp>
        <p:nvSpPr>
          <p:cNvPr id="14" name="texto 161"/>
          <p:cNvSpPr txBox="1"/>
          <p:nvPr/>
        </p:nvSpPr>
        <p:spPr>
          <a:xfrm>
            <a:off x="4292498" y="4114800"/>
            <a:ext cx="17347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Proposta com etiqueta, relevo, selo de cera.</a:t>
            </a:r>
            <a:endParaRPr lang="en-US" sz="1300" dirty="0"/>
          </a:p>
        </p:txBody>
      </p:sp>
      <p:sp>
        <p:nvSpPr>
          <p:cNvPr id="15" name="texto 162"/>
          <p:cNvSpPr txBox="1"/>
          <p:nvPr/>
        </p:nvSpPr>
        <p:spPr>
          <a:xfrm>
            <a:off x="6164428" y="3794760"/>
            <a:ext cx="17347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Textura</a:t>
            </a:r>
            <a:endParaRPr lang="en-US" sz="1200" dirty="0"/>
          </a:p>
        </p:txBody>
      </p:sp>
      <p:sp>
        <p:nvSpPr>
          <p:cNvPr id="16" name="texto 163"/>
          <p:cNvSpPr txBox="1"/>
          <p:nvPr/>
        </p:nvSpPr>
        <p:spPr>
          <a:xfrm>
            <a:off x="6164428" y="4114800"/>
            <a:ext cx="17347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Papel, tecido, madeira, bem de perto.</a:t>
            </a:r>
            <a:endParaRPr lang="en-US" sz="1300" dirty="0"/>
          </a:p>
        </p:txBody>
      </p:sp>
      <p:sp>
        <p:nvSpPr>
          <p:cNvPr id="17" name="texto 164"/>
          <p:cNvSpPr txBox="1"/>
          <p:nvPr/>
        </p:nvSpPr>
        <p:spPr>
          <a:xfrm>
            <a:off x="8036357" y="3794760"/>
            <a:ext cx="17347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Lugar do cliente</a:t>
            </a:r>
            <a:endParaRPr lang="en-US" sz="1200" dirty="0"/>
          </a:p>
        </p:txBody>
      </p:sp>
      <p:sp>
        <p:nvSpPr>
          <p:cNvPr id="18" name="texto 165"/>
          <p:cNvSpPr txBox="1"/>
          <p:nvPr/>
        </p:nvSpPr>
        <p:spPr>
          <a:xfrm>
            <a:off x="8036357" y="4114800"/>
            <a:ext cx="17347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Balcão, consultório, ateliê, com autorização.</a:t>
            </a:r>
            <a:endParaRPr lang="en-US" sz="1300" dirty="0"/>
          </a:p>
        </p:txBody>
      </p:sp>
      <p:sp>
        <p:nvSpPr>
          <p:cNvPr id="19" name="texto 166"/>
          <p:cNvSpPr txBox="1"/>
          <p:nvPr/>
        </p:nvSpPr>
        <p:spPr>
          <a:xfrm>
            <a:off x="9908286" y="3794760"/>
            <a:ext cx="17347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Peça em uso</a:t>
            </a:r>
            <a:endParaRPr lang="en-US" sz="1200" dirty="0"/>
          </a:p>
        </p:txBody>
      </p:sp>
      <p:sp>
        <p:nvSpPr>
          <p:cNvPr id="20" name="texto 167"/>
          <p:cNvSpPr txBox="1"/>
          <p:nvPr/>
        </p:nvSpPr>
        <p:spPr>
          <a:xfrm>
            <a:off x="9908286" y="4114800"/>
            <a:ext cx="17347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O post do cliente no celular de alguém.</a:t>
            </a:r>
            <a:endParaRPr lang="en-US" sz="1300" dirty="0"/>
          </a:p>
        </p:txBody>
      </p:sp>
      <p:sp>
        <p:nvSpPr>
          <p:cNvPr id="21" name="texto 168"/>
          <p:cNvSpPr txBox="1"/>
          <p:nvPr/>
        </p:nvSpPr>
        <p:spPr>
          <a:xfrm>
            <a:off x="548640" y="5212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Dois de cada três posts começam com imagem. Fotos da prévia: se alguma foi gerada por IA, vale como roteiro e precisa ser refeita em foto real antes de publicar.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Sessão de fotos: um dia, cerca de três meses de feed</a:t>
            </a:r>
            <a:endParaRPr lang="en-US" sz="4000" dirty="0"/>
          </a:p>
        </p:txBody>
      </p:sp>
      <p:sp>
        <p:nvSpPr>
          <p:cNvPr id="3" name="linha 169"/>
          <p:cNvSpPr/>
          <p:nvPr/>
        </p:nvSpPr>
        <p:spPr>
          <a:xfrm>
            <a:off x="548640" y="141732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o 170"/>
          <p:cNvSpPr txBox="1"/>
          <p:nvPr/>
        </p:nvSpPr>
        <p:spPr>
          <a:xfrm>
            <a:off x="548640" y="15361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o 171"/>
          <p:cNvSpPr txBox="1"/>
          <p:nvPr/>
        </p:nvSpPr>
        <p:spPr>
          <a:xfrm>
            <a:off x="1005840" y="1527048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Victoria de frente, luz lateral, fundo escuro</a:t>
            </a:r>
            <a:endParaRPr lang="en-US" sz="1500" dirty="0"/>
          </a:p>
        </p:txBody>
      </p:sp>
      <p:sp>
        <p:nvSpPr>
          <p:cNvPr id="6" name="linha 172"/>
          <p:cNvSpPr/>
          <p:nvPr/>
        </p:nvSpPr>
        <p:spPr>
          <a:xfrm>
            <a:off x="548640" y="1984248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o 173"/>
          <p:cNvSpPr txBox="1"/>
          <p:nvPr/>
        </p:nvSpPr>
        <p:spPr>
          <a:xfrm>
            <a:off x="548640" y="2103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o 174"/>
          <p:cNvSpPr txBox="1"/>
          <p:nvPr/>
        </p:nvSpPr>
        <p:spPr>
          <a:xfrm>
            <a:off x="1005840" y="2093976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Victoria de perfil, olhando o papel</a:t>
            </a:r>
            <a:endParaRPr lang="en-US" sz="1500" dirty="0"/>
          </a:p>
        </p:txBody>
      </p:sp>
      <p:sp>
        <p:nvSpPr>
          <p:cNvPr id="9" name="linha 175"/>
          <p:cNvSpPr/>
          <p:nvPr/>
        </p:nvSpPr>
        <p:spPr>
          <a:xfrm>
            <a:off x="548640" y="2551176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o 176"/>
          <p:cNvSpPr txBox="1"/>
          <p:nvPr/>
        </p:nvSpPr>
        <p:spPr>
          <a:xfrm>
            <a:off x="548640" y="2670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o 177"/>
          <p:cNvSpPr txBox="1"/>
          <p:nvPr/>
        </p:nvSpPr>
        <p:spPr>
          <a:xfrm>
            <a:off x="1005840" y="2660904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Mãos abrindo a proposta com etiqueta</a:t>
            </a:r>
            <a:endParaRPr lang="en-US" sz="1500" dirty="0"/>
          </a:p>
        </p:txBody>
      </p:sp>
      <p:sp>
        <p:nvSpPr>
          <p:cNvPr id="12" name="linha 178"/>
          <p:cNvSpPr/>
          <p:nvPr/>
        </p:nvSpPr>
        <p:spPr>
          <a:xfrm>
            <a:off x="548640" y="3118104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o 179"/>
          <p:cNvSpPr txBox="1"/>
          <p:nvPr/>
        </p:nvSpPr>
        <p:spPr>
          <a:xfrm>
            <a:off x="548640" y="3236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o 180"/>
          <p:cNvSpPr txBox="1"/>
          <p:nvPr/>
        </p:nvSpPr>
        <p:spPr>
          <a:xfrm>
            <a:off x="1005840" y="3227832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Cartão em relevo, luz rasante mostrando o "ha"</a:t>
            </a:r>
            <a:endParaRPr lang="en-US" sz="1500" dirty="0"/>
          </a:p>
        </p:txBody>
      </p:sp>
      <p:sp>
        <p:nvSpPr>
          <p:cNvPr id="15" name="linha 181"/>
          <p:cNvSpPr/>
          <p:nvPr/>
        </p:nvSpPr>
        <p:spPr>
          <a:xfrm>
            <a:off x="548640" y="3685032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o 182"/>
          <p:cNvSpPr txBox="1"/>
          <p:nvPr/>
        </p:nvSpPr>
        <p:spPr>
          <a:xfrm>
            <a:off x="548640" y="38039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o 183"/>
          <p:cNvSpPr txBox="1"/>
          <p:nvPr/>
        </p:nvSpPr>
        <p:spPr>
          <a:xfrm>
            <a:off x="1005840" y="379476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Papel claro rasgado sobre papel bordô</a:t>
            </a:r>
            <a:endParaRPr lang="en-US" sz="1500" dirty="0"/>
          </a:p>
        </p:txBody>
      </p:sp>
      <p:sp>
        <p:nvSpPr>
          <p:cNvPr id="18" name="linha 184"/>
          <p:cNvSpPr/>
          <p:nvPr/>
        </p:nvSpPr>
        <p:spPr>
          <a:xfrm>
            <a:off x="548640" y="425196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9" name="texto 185"/>
          <p:cNvSpPr txBox="1"/>
          <p:nvPr/>
        </p:nvSpPr>
        <p:spPr>
          <a:xfrm>
            <a:off x="548640" y="43708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o 186"/>
          <p:cNvSpPr txBox="1"/>
          <p:nvPr/>
        </p:nvSpPr>
        <p:spPr>
          <a:xfrm>
            <a:off x="1005840" y="4361688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Celular com post aberto, mão segurando</a:t>
            </a:r>
            <a:endParaRPr lang="en-US" sz="1500" dirty="0"/>
          </a:p>
        </p:txBody>
      </p:sp>
      <p:sp>
        <p:nvSpPr>
          <p:cNvPr id="21" name="linha 187"/>
          <p:cNvSpPr/>
          <p:nvPr/>
        </p:nvSpPr>
        <p:spPr>
          <a:xfrm>
            <a:off x="6370168" y="141732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2" name="texto 188"/>
          <p:cNvSpPr txBox="1"/>
          <p:nvPr/>
        </p:nvSpPr>
        <p:spPr>
          <a:xfrm>
            <a:off x="6370168" y="15361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o 189"/>
          <p:cNvSpPr txBox="1"/>
          <p:nvPr/>
        </p:nvSpPr>
        <p:spPr>
          <a:xfrm>
            <a:off x="6827368" y="1527048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Calendário do mês com marcações à mão</a:t>
            </a:r>
            <a:endParaRPr lang="en-US" sz="1500" dirty="0"/>
          </a:p>
        </p:txBody>
      </p:sp>
      <p:sp>
        <p:nvSpPr>
          <p:cNvPr id="24" name="linha 190"/>
          <p:cNvSpPr/>
          <p:nvPr/>
        </p:nvSpPr>
        <p:spPr>
          <a:xfrm>
            <a:off x="6370168" y="1984248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texto 191"/>
          <p:cNvSpPr txBox="1"/>
          <p:nvPr/>
        </p:nvSpPr>
        <p:spPr>
          <a:xfrm>
            <a:off x="6370168" y="2103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o 192"/>
          <p:cNvSpPr txBox="1"/>
          <p:nvPr/>
        </p:nvSpPr>
        <p:spPr>
          <a:xfrm>
            <a:off x="6827368" y="2093976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Reunião vista de lado, sem rosto do cliente</a:t>
            </a:r>
            <a:endParaRPr lang="en-US" sz="1500" dirty="0"/>
          </a:p>
        </p:txBody>
      </p:sp>
      <p:sp>
        <p:nvSpPr>
          <p:cNvPr id="27" name="linha 193"/>
          <p:cNvSpPr/>
          <p:nvPr/>
        </p:nvSpPr>
        <p:spPr>
          <a:xfrm>
            <a:off x="6370168" y="2551176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8" name="texto 194"/>
          <p:cNvSpPr txBox="1"/>
          <p:nvPr/>
        </p:nvSpPr>
        <p:spPr>
          <a:xfrm>
            <a:off x="6370168" y="2670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o 195"/>
          <p:cNvSpPr txBox="1"/>
          <p:nvPr/>
        </p:nvSpPr>
        <p:spPr>
          <a:xfrm>
            <a:off x="6827368" y="2660904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Close de tecido, papel e madeira</a:t>
            </a:r>
            <a:endParaRPr lang="en-US" sz="1500" dirty="0"/>
          </a:p>
        </p:txBody>
      </p:sp>
      <p:sp>
        <p:nvSpPr>
          <p:cNvPr id="30" name="linha 196"/>
          <p:cNvSpPr/>
          <p:nvPr/>
        </p:nvSpPr>
        <p:spPr>
          <a:xfrm>
            <a:off x="6370168" y="3118104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1" name="texto 197"/>
          <p:cNvSpPr txBox="1"/>
          <p:nvPr/>
        </p:nvSpPr>
        <p:spPr>
          <a:xfrm>
            <a:off x="6370168" y="3236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o 198"/>
          <p:cNvSpPr txBox="1"/>
          <p:nvPr/>
        </p:nvSpPr>
        <p:spPr>
          <a:xfrm>
            <a:off x="6827368" y="3227832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Selo de cera sendo aplicado no envelope</a:t>
            </a:r>
            <a:endParaRPr lang="en-US" sz="1500" dirty="0"/>
          </a:p>
        </p:txBody>
      </p:sp>
      <p:sp>
        <p:nvSpPr>
          <p:cNvPr id="33" name="linha 199"/>
          <p:cNvSpPr/>
          <p:nvPr/>
        </p:nvSpPr>
        <p:spPr>
          <a:xfrm>
            <a:off x="6370168" y="3685032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4" name="texto 200"/>
          <p:cNvSpPr txBox="1"/>
          <p:nvPr/>
        </p:nvSpPr>
        <p:spPr>
          <a:xfrm>
            <a:off x="6370168" y="38039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</a:t>
            </a:r>
            <a:endParaRPr lang="en-US" sz="1300" dirty="0"/>
          </a:p>
        </p:txBody>
      </p:sp>
      <p:sp>
        <p:nvSpPr>
          <p:cNvPr id="35" name="texto 201"/>
          <p:cNvSpPr txBox="1"/>
          <p:nvPr/>
        </p:nvSpPr>
        <p:spPr>
          <a:xfrm>
            <a:off x="6827368" y="379476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Assinatura da Victoria em vermelho</a:t>
            </a:r>
            <a:endParaRPr lang="en-US" sz="1500" dirty="0"/>
          </a:p>
        </p:txBody>
      </p:sp>
      <p:sp>
        <p:nvSpPr>
          <p:cNvPr id="36" name="linha 202"/>
          <p:cNvSpPr/>
          <p:nvPr/>
        </p:nvSpPr>
        <p:spPr>
          <a:xfrm>
            <a:off x="6370168" y="425196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7" name="texto 203"/>
          <p:cNvSpPr txBox="1"/>
          <p:nvPr/>
        </p:nvSpPr>
        <p:spPr>
          <a:xfrm>
            <a:off x="6370168" y="43708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12</a:t>
            </a:r>
            <a:endParaRPr lang="en-US" sz="1300" dirty="0"/>
          </a:p>
        </p:txBody>
      </p:sp>
      <p:sp>
        <p:nvSpPr>
          <p:cNvPr id="38" name="texto 204"/>
          <p:cNvSpPr txBox="1"/>
          <p:nvPr/>
        </p:nvSpPr>
        <p:spPr>
          <a:xfrm>
            <a:off x="6827368" y="4361688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Três vídeos de 10 segundos para Reels</a:t>
            </a:r>
            <a:endParaRPr lang="en-US" sz="1500" dirty="0"/>
          </a:p>
        </p:txBody>
      </p:sp>
      <p:sp>
        <p:nvSpPr>
          <p:cNvPr id="39" name="texto 205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Tratamento igual em todas: pouca luz, luz lateral, calor âmbar, grão leve. Texto sobre foto só no terço de baixo, nunca em cima de rosto.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Aplicações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Papelaria, proposta, Instagram, apresentação e digital.</a:t>
            </a:r>
            <a:endParaRPr lang="en-US" sz="1800" dirty="0"/>
          </a:p>
        </p:txBody>
      </p:sp>
      <p:pic>
        <p:nvPicPr>
          <p:cNvPr id="4" name="monograma" descr="monogram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31375" y="1463040"/>
            <a:ext cx="2011680" cy="2926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Papelaria</a:t>
            </a:r>
            <a:endParaRPr lang="en-US" sz="4000" dirty="0"/>
          </a:p>
        </p:txBody>
      </p:sp>
      <p:pic>
        <p:nvPicPr>
          <p:cNvPr id="3" name="mockup papelaria" descr="mockup papelari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6766560" cy="4233672"/>
          </a:xfrm>
          <a:prstGeom prst="rect">
            <a:avLst/>
          </a:prstGeom>
        </p:spPr>
      </p:pic>
      <p:pic>
        <p:nvPicPr>
          <p:cNvPr id="4" name="mockup papel timbrado" descr="mockup papel timbrad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89520" y="1280160"/>
            <a:ext cx="1920240" cy="2404872"/>
          </a:xfrm>
          <a:prstGeom prst="rect">
            <a:avLst/>
          </a:prstGeom>
        </p:spPr>
      </p:pic>
      <p:pic>
        <p:nvPicPr>
          <p:cNvPr id="5" name="mockup etiqueta" descr="mockup etiqueta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692640" y="1280160"/>
            <a:ext cx="1920240" cy="2404872"/>
          </a:xfrm>
          <a:prstGeom prst="rect">
            <a:avLst/>
          </a:prstGeom>
        </p:spPr>
      </p:pic>
      <p:sp>
        <p:nvSpPr>
          <p:cNvPr id="6" name="texto 206"/>
          <p:cNvSpPr txBox="1"/>
          <p:nvPr/>
        </p:nvSpPr>
        <p:spPr>
          <a:xfrm>
            <a:off x="7589520" y="388620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Cartão com a frente toda em relevo no bordô e verso em seda. Envelope com selo de cera vermelho e o monograma. Etiqueta com cordão para a proposta impressa. Papel timbrado com a marca no alto e a assinatura em vermelho.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Proposta</a:t>
            </a:r>
            <a:endParaRPr lang="en-US" sz="4000" dirty="0"/>
          </a:p>
        </p:txBody>
      </p:sp>
      <p:pic>
        <p:nvPicPr>
          <p:cNvPr id="3" name="mockup capa da proposta" descr="mockup capa da propost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3657600" cy="4572000"/>
          </a:xfrm>
          <a:prstGeom prst="rect">
            <a:avLst/>
          </a:prstGeom>
        </p:spPr>
      </p:pic>
      <p:pic>
        <p:nvPicPr>
          <p:cNvPr id="4" name="mockup página de investimento" descr="mockup página de investiment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1280160"/>
            <a:ext cx="3657600" cy="4572000"/>
          </a:xfrm>
          <a:prstGeom prst="rect">
            <a:avLst/>
          </a:prstGeom>
        </p:spPr>
      </p:pic>
      <p:sp>
        <p:nvSpPr>
          <p:cNvPr id="5" name="texto 207"/>
          <p:cNvSpPr txBox="1"/>
          <p:nvPr/>
        </p:nvSpPr>
        <p:spPr>
          <a:xfrm>
            <a:off x="8503920" y="1371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Capa escura com "Hadassa" repetido em relevo e o toque vermelho na letra da Victoria.</a:t>
            </a:r>
            <a:endParaRPr lang="en-US" sz="1500" dirty="0"/>
          </a:p>
        </p:txBody>
      </p:sp>
      <p:sp>
        <p:nvSpPr>
          <p:cNvPr id="6" name="texto 208"/>
          <p:cNvSpPr txBox="1"/>
          <p:nvPr/>
        </p:nvSpPr>
        <p:spPr>
          <a:xfrm>
            <a:off x="8503920" y="26974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Miolo claro, com poucos elementos por página. Na página de investimento, um pacote recomendado e uma alternativa, com os valores em destaque.</a:t>
            </a:r>
            <a:endParaRPr lang="en-US" sz="1500" dirty="0"/>
          </a:p>
        </p:txBody>
      </p:sp>
      <p:sp>
        <p:nvSpPr>
          <p:cNvPr id="7" name="texto 209"/>
          <p:cNvSpPr txBox="1"/>
          <p:nvPr/>
        </p:nvSpPr>
        <p:spPr>
          <a:xfrm>
            <a:off x="8503920" y="4480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Fee e verba de mídia sempre separados. Validade de 15 dias.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Instagram: grade e pilares</a:t>
            </a:r>
            <a:endParaRPr lang="en-US" sz="4000" dirty="0"/>
          </a:p>
        </p:txBody>
      </p:sp>
      <p:pic>
        <p:nvPicPr>
          <p:cNvPr id="3" name="mockup perfil" descr="mockup perfi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3840480" cy="4800600"/>
          </a:xfrm>
          <a:prstGeom prst="rect">
            <a:avLst/>
          </a:prstGeom>
        </p:spPr>
      </p:pic>
      <p:graphicFrame>
        <p:nvGraphicFramePr>
          <p:cNvPr id="4" name="grafico pilares" descr=""/>
          <p:cNvGraphicFramePr/>
          <p:nvPr/>
        </p:nvGraphicFramePr>
        <p:xfrm>
          <a:off x="4663440" y="1234440"/>
          <a:ext cx="3566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linha 210"/>
          <p:cNvSpPr/>
          <p:nvPr/>
        </p:nvSpPr>
        <p:spPr>
          <a:xfrm>
            <a:off x="8549640" y="1325880"/>
            <a:ext cx="3063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o 211"/>
          <p:cNvSpPr txBox="1"/>
          <p:nvPr/>
        </p:nvSpPr>
        <p:spPr>
          <a:xfrm>
            <a:off x="8549640" y="143560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Duas imagens e um post de texto por linha; o texto anda em diagonal.</a:t>
            </a:r>
            <a:endParaRPr lang="en-US" sz="1400" dirty="0"/>
          </a:p>
        </p:txBody>
      </p:sp>
      <p:sp>
        <p:nvSpPr>
          <p:cNvPr id="7" name="linha 212"/>
          <p:cNvSpPr/>
          <p:nvPr/>
        </p:nvSpPr>
        <p:spPr>
          <a:xfrm>
            <a:off x="8549640" y="2468880"/>
            <a:ext cx="3063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o 213"/>
          <p:cNvSpPr txBox="1"/>
          <p:nvPr/>
        </p:nvSpPr>
        <p:spPr>
          <a:xfrm>
            <a:off x="8549640" y="257860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Número com asterisco sempre no fundo claro, sem foto.</a:t>
            </a:r>
            <a:endParaRPr lang="en-US" sz="1400" dirty="0"/>
          </a:p>
        </p:txBody>
      </p:sp>
      <p:sp>
        <p:nvSpPr>
          <p:cNvPr id="9" name="linha 214"/>
          <p:cNvSpPr/>
          <p:nvPr/>
        </p:nvSpPr>
        <p:spPr>
          <a:xfrm>
            <a:off x="8549640" y="3611880"/>
            <a:ext cx="3063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o 215"/>
          <p:cNvSpPr txBox="1"/>
          <p:nvPr/>
        </p:nvSpPr>
        <p:spPr>
          <a:xfrm>
            <a:off x="8549640" y="372160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Nenhuma oferta sem um post de dor ou de evidência na mesma semana.</a:t>
            </a:r>
            <a:endParaRPr lang="en-US" sz="1400" dirty="0"/>
          </a:p>
        </p:txBody>
      </p:sp>
      <p:sp>
        <p:nvSpPr>
          <p:cNvPr id="11" name="linha 216"/>
          <p:cNvSpPr/>
          <p:nvPr/>
        </p:nvSpPr>
        <p:spPr>
          <a:xfrm>
            <a:off x="8549640" y="4754880"/>
            <a:ext cx="3063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o 217"/>
          <p:cNvSpPr txBox="1"/>
          <p:nvPr/>
        </p:nvSpPr>
        <p:spPr>
          <a:xfrm>
            <a:off x="8549640" y="486460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Fixados: a origem do nome (com o rasgo), como funciona e quem é a Victoria.</a:t>
            </a:r>
            <a:endParaRPr lang="en-US" sz="1400" dirty="0"/>
          </a:p>
        </p:txBody>
      </p:sp>
      <p:sp>
        <p:nvSpPr>
          <p:cNvPr id="13" name="texto 218"/>
          <p:cNvSpPr txBox="1"/>
          <p:nvPr/>
        </p:nvSpPr>
        <p:spPr>
          <a:xfrm>
            <a:off x="4663440" y="46634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Instagram mostra a grade em 3:4. O post é 4:5, então nada importante fica nas bordas de cima e de baixo.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Carrossel e stories</a:t>
            </a:r>
            <a:endParaRPr lang="en-US" sz="4000" dirty="0"/>
          </a:p>
        </p:txBody>
      </p:sp>
      <p:pic>
        <p:nvPicPr>
          <p:cNvPr id="3" name="mockup carrossel" descr="mockup carrosse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7589520" cy="3118104"/>
          </a:xfrm>
          <a:prstGeom prst="rect">
            <a:avLst/>
          </a:prstGeom>
        </p:spPr>
      </p:pic>
      <p:pic>
        <p:nvPicPr>
          <p:cNvPr id="4" name="mockup stories" descr="mockup storie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12480" y="1280160"/>
            <a:ext cx="3200400" cy="4005072"/>
          </a:xfrm>
          <a:prstGeom prst="rect">
            <a:avLst/>
          </a:prstGeom>
        </p:spPr>
      </p:pic>
      <p:sp>
        <p:nvSpPr>
          <p:cNvPr id="5" name="texto 219"/>
          <p:cNvSpPr txBox="1"/>
          <p:nvPr/>
        </p:nvSpPr>
        <p:spPr>
          <a:xfrm>
            <a:off x="548640" y="46177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Carrossel: abre com a dor, segue com o dado e o selo de fonte, fecha com a chamada para o WhatsApp.</a:t>
            </a:r>
            <a:endParaRPr lang="en-US" sz="1500" dirty="0"/>
          </a:p>
        </p:txBody>
      </p:sp>
      <p:sp>
        <p:nvSpPr>
          <p:cNvPr id="6" name="texto 220"/>
          <p:cNvSpPr txBox="1"/>
          <p:nvPr/>
        </p:nvSpPr>
        <p:spPr>
          <a:xfrm>
            <a:off x="548640" y="5303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Stories: chamada para o diagnóstico de 20 minutos e dado com asterisco.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Capas de Reels</a:t>
            </a:r>
            <a:endParaRPr lang="en-US" sz="4000" dirty="0"/>
          </a:p>
        </p:txBody>
      </p:sp>
      <p:pic>
        <p:nvPicPr>
          <p:cNvPr id="3" name="mockup capas de reels" descr="mockup capas de reel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6858000" cy="3995928"/>
          </a:xfrm>
          <a:prstGeom prst="rect">
            <a:avLst/>
          </a:prstGeom>
        </p:spPr>
      </p:pic>
      <p:sp>
        <p:nvSpPr>
          <p:cNvPr id="4" name="linha 221"/>
          <p:cNvSpPr/>
          <p:nvPr/>
        </p:nvSpPr>
        <p:spPr>
          <a:xfrm>
            <a:off x="7772400" y="1325880"/>
            <a:ext cx="38404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o 222"/>
          <p:cNvSpPr txBox="1"/>
          <p:nvPr/>
        </p:nvSpPr>
        <p:spPr>
          <a:xfrm>
            <a:off x="7772400" y="14356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chemeClr val="accent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Estratégia com propósito</a:t>
            </a:r>
            <a:endParaRPr lang="en-US" sz="1200" dirty="0"/>
          </a:p>
        </p:txBody>
      </p:sp>
      <p:sp>
        <p:nvSpPr>
          <p:cNvPr id="6" name="texto 223"/>
          <p:cNvSpPr txBox="1"/>
          <p:nvPr/>
        </p:nvSpPr>
        <p:spPr>
          <a:xfrm>
            <a:off x="777240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que a sua semana tem que o feed não mostra</a:t>
            </a:r>
            <a:endParaRPr lang="en-US" sz="2200" dirty="0"/>
          </a:p>
        </p:txBody>
      </p:sp>
      <p:sp>
        <p:nvSpPr>
          <p:cNvPr id="7" name="linha 224"/>
          <p:cNvSpPr/>
          <p:nvPr/>
        </p:nvSpPr>
        <p:spPr>
          <a:xfrm>
            <a:off x="7772400" y="2697480"/>
            <a:ext cx="38404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o 225"/>
          <p:cNvSpPr txBox="1"/>
          <p:nvPr/>
        </p:nvSpPr>
        <p:spPr>
          <a:xfrm>
            <a:off x="7772400" y="2807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chemeClr val="accent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Planejamento que gera resultados</a:t>
            </a:r>
            <a:endParaRPr lang="en-US" sz="1200" dirty="0"/>
          </a:p>
        </p:txBody>
      </p:sp>
      <p:sp>
        <p:nvSpPr>
          <p:cNvPr id="9" name="texto 226"/>
          <p:cNvSpPr txBox="1"/>
          <p:nvPr/>
        </p:nvSpPr>
        <p:spPr>
          <a:xfrm>
            <a:off x="7772400" y="31546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Como a gente decide o que entra no mês</a:t>
            </a:r>
            <a:endParaRPr lang="en-US" sz="2200" dirty="0"/>
          </a:p>
        </p:txBody>
      </p:sp>
      <p:sp>
        <p:nvSpPr>
          <p:cNvPr id="10" name="linha 227"/>
          <p:cNvSpPr/>
          <p:nvPr/>
        </p:nvSpPr>
        <p:spPr>
          <a:xfrm>
            <a:off x="7772400" y="4069080"/>
            <a:ext cx="38404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o 228"/>
          <p:cNvSpPr txBox="1"/>
          <p:nvPr/>
        </p:nvSpPr>
        <p:spPr>
          <a:xfrm>
            <a:off x="7772400" y="4178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chemeClr val="accent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Marcas que impactam pessoas</a:t>
            </a:r>
            <a:endParaRPr lang="en-US" sz="1200" dirty="0"/>
          </a:p>
        </p:txBody>
      </p:sp>
      <p:sp>
        <p:nvSpPr>
          <p:cNvPr id="12" name="texto 229"/>
          <p:cNvSpPr txBox="1"/>
          <p:nvPr/>
        </p:nvSpPr>
        <p:spPr>
          <a:xfrm>
            <a:off x="7772400" y="4526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Primeiro a gente escuta. Depois escreve.</a:t>
            </a:r>
            <a:endParaRPr lang="en-US" sz="2200" dirty="0"/>
          </a:p>
        </p:txBody>
      </p:sp>
      <p:sp>
        <p:nvSpPr>
          <p:cNvPr id="13" name="texto 230"/>
          <p:cNvSpPr txBox="1"/>
          <p:nvPr/>
        </p:nvSpPr>
        <p:spPr>
          <a:xfrm>
            <a:off x="7772400" y="5440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Frases que serviriam para qualquer agência saem. Entra a versão concreta, em caixa normal.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Apresentação e digital</a:t>
            </a:r>
            <a:endParaRPr lang="en-US" sz="4000" dirty="0"/>
          </a:p>
        </p:txBody>
      </p:sp>
      <p:pic>
        <p:nvPicPr>
          <p:cNvPr id="3" name="mockup slide capa" descr="mockup slide cap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3657600" cy="2057400"/>
          </a:xfrm>
          <a:prstGeom prst="rect">
            <a:avLst/>
          </a:prstGeom>
        </p:spPr>
      </p:pic>
      <p:pic>
        <p:nvPicPr>
          <p:cNvPr id="4" name="mockup slide de dado" descr="mockup slide de dad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0" y="1280160"/>
            <a:ext cx="3657600" cy="2057400"/>
          </a:xfrm>
          <a:prstGeom prst="rect">
            <a:avLst/>
          </a:prstGeom>
        </p:spPr>
      </p:pic>
      <p:pic>
        <p:nvPicPr>
          <p:cNvPr id="5" name="mockup capa do linkedin" descr="mockup capa do linkedi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3566160"/>
            <a:ext cx="7498080" cy="1883664"/>
          </a:xfrm>
          <a:prstGeom prst="rect">
            <a:avLst/>
          </a:prstGeom>
        </p:spPr>
      </p:pic>
      <p:pic>
        <p:nvPicPr>
          <p:cNvPr id="6" name="mockup assinatura de email" descr="mockup assinatura de email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21040" y="1280160"/>
            <a:ext cx="3291840" cy="1143000"/>
          </a:xfrm>
          <a:prstGeom prst="rect">
            <a:avLst/>
          </a:prstGeom>
        </p:spPr>
      </p:pic>
      <p:pic>
        <p:nvPicPr>
          <p:cNvPr id="7" name="mockup whatsapp" descr="mockup whatsapp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21040" y="2606040"/>
            <a:ext cx="3291840" cy="1362456"/>
          </a:xfrm>
          <a:prstGeom prst="rect">
            <a:avLst/>
          </a:prstGeom>
        </p:spPr>
      </p:pic>
      <p:sp>
        <p:nvSpPr>
          <p:cNvPr id="8" name="texto 231"/>
          <p:cNvSpPr txBox="1"/>
          <p:nvPr/>
        </p:nvSpPr>
        <p:spPr>
          <a:xfrm>
            <a:off x="8321040" y="41605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Onde não existe relevo, a marca é só "dassah", e o monograma vira a foto de perfil. A primeira resposta no WhatsApp é um diagnóstico, nunca um catálogo.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Cuidado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 que nunca fazemos e o que falta decidir.</a:t>
            </a:r>
            <a:endParaRPr lang="en-US" sz="1800" dirty="0"/>
          </a:p>
        </p:txBody>
      </p:sp>
      <p:pic>
        <p:nvPicPr>
          <p:cNvPr id="4" name="monograma" descr="monogram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31375" y="1463040"/>
            <a:ext cx="2011680" cy="2926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que nunca fazemos</a:t>
            </a:r>
            <a:endParaRPr lang="en-US" sz="4000" dirty="0"/>
          </a:p>
        </p:txBody>
      </p:sp>
      <p:sp>
        <p:nvSpPr>
          <p:cNvPr id="3" name="linha 232"/>
          <p:cNvSpPr/>
          <p:nvPr/>
        </p:nvSpPr>
        <p:spPr>
          <a:xfrm>
            <a:off x="548640" y="141732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o 233"/>
          <p:cNvSpPr txBox="1"/>
          <p:nvPr/>
        </p:nvSpPr>
        <p:spPr>
          <a:xfrm>
            <a:off x="54864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000" dirty="0"/>
          </a:p>
        </p:txBody>
      </p:sp>
      <p:sp>
        <p:nvSpPr>
          <p:cNvPr id="5" name="texto 234"/>
          <p:cNvSpPr txBox="1"/>
          <p:nvPr/>
        </p:nvSpPr>
        <p:spPr>
          <a:xfrm>
            <a:off x="1005840" y="157276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Dourado, metalizado ou brilho de estrela.</a:t>
            </a:r>
            <a:endParaRPr lang="en-US" sz="1600" dirty="0"/>
          </a:p>
        </p:txBody>
      </p:sp>
      <p:sp>
        <p:nvSpPr>
          <p:cNvPr id="6" name="linha 235"/>
          <p:cNvSpPr/>
          <p:nvPr/>
        </p:nvSpPr>
        <p:spPr>
          <a:xfrm>
            <a:off x="548640" y="228600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o 236"/>
          <p:cNvSpPr txBox="1"/>
          <p:nvPr/>
        </p:nvSpPr>
        <p:spPr>
          <a:xfrm>
            <a:off x="54864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000" dirty="0"/>
          </a:p>
        </p:txBody>
      </p:sp>
      <p:sp>
        <p:nvSpPr>
          <p:cNvPr id="8" name="texto 237"/>
          <p:cNvSpPr txBox="1"/>
          <p:nvPr/>
        </p:nvSpPr>
        <p:spPr>
          <a:xfrm>
            <a:off x="1005840" y="244144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Ramo de folhas, vaso, tecido drapeado de mockup.</a:t>
            </a:r>
            <a:endParaRPr lang="en-US" sz="1600" dirty="0"/>
          </a:p>
        </p:txBody>
      </p:sp>
      <p:sp>
        <p:nvSpPr>
          <p:cNvPr id="9" name="linha 238"/>
          <p:cNvSpPr/>
          <p:nvPr/>
        </p:nvSpPr>
        <p:spPr>
          <a:xfrm>
            <a:off x="548640" y="315468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o 239"/>
          <p:cNvSpPr txBox="1"/>
          <p:nvPr/>
        </p:nvSpPr>
        <p:spPr>
          <a:xfrm>
            <a:off x="54864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000" dirty="0"/>
          </a:p>
        </p:txBody>
      </p:sp>
      <p:sp>
        <p:nvSpPr>
          <p:cNvPr id="11" name="texto 240"/>
          <p:cNvSpPr txBox="1"/>
          <p:nvPr/>
        </p:nvSpPr>
        <p:spPr>
          <a:xfrm>
            <a:off x="1005840" y="331012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Marca em caixa-alta ou em letra cursiva.</a:t>
            </a:r>
            <a:endParaRPr lang="en-US" sz="1600" dirty="0"/>
          </a:p>
        </p:txBody>
      </p:sp>
      <p:sp>
        <p:nvSpPr>
          <p:cNvPr id="12" name="linha 241"/>
          <p:cNvSpPr/>
          <p:nvPr/>
        </p:nvSpPr>
        <p:spPr>
          <a:xfrm>
            <a:off x="548640" y="402336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o 242"/>
          <p:cNvSpPr txBox="1"/>
          <p:nvPr/>
        </p:nvSpPr>
        <p:spPr>
          <a:xfrm>
            <a:off x="548640" y="4160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000" dirty="0"/>
          </a:p>
        </p:txBody>
      </p:sp>
      <p:sp>
        <p:nvSpPr>
          <p:cNvPr id="14" name="texto 243"/>
          <p:cNvSpPr txBox="1"/>
          <p:nvPr/>
        </p:nvSpPr>
        <p:spPr>
          <a:xfrm>
            <a:off x="1005840" y="417880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Relevo simulado com sombra pesada no digital.</a:t>
            </a:r>
            <a:endParaRPr lang="en-US" sz="1600" dirty="0"/>
          </a:p>
        </p:txBody>
      </p:sp>
      <p:sp>
        <p:nvSpPr>
          <p:cNvPr id="15" name="linha 244"/>
          <p:cNvSpPr/>
          <p:nvPr/>
        </p:nvSpPr>
        <p:spPr>
          <a:xfrm>
            <a:off x="548640" y="489204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o 245"/>
          <p:cNvSpPr txBox="1"/>
          <p:nvPr/>
        </p:nvSpPr>
        <p:spPr>
          <a:xfrm>
            <a:off x="548640" y="5029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000" dirty="0"/>
          </a:p>
        </p:txBody>
      </p:sp>
      <p:sp>
        <p:nvSpPr>
          <p:cNvPr id="17" name="texto 246"/>
          <p:cNvSpPr txBox="1"/>
          <p:nvPr/>
        </p:nvSpPr>
        <p:spPr>
          <a:xfrm>
            <a:off x="1005840" y="504748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Rasgo desenhado no computador em peça final.</a:t>
            </a:r>
            <a:endParaRPr lang="en-US" sz="1600" dirty="0"/>
          </a:p>
        </p:txBody>
      </p:sp>
      <p:sp>
        <p:nvSpPr>
          <p:cNvPr id="18" name="linha 247"/>
          <p:cNvSpPr/>
          <p:nvPr/>
        </p:nvSpPr>
        <p:spPr>
          <a:xfrm>
            <a:off x="6370168" y="141732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9" name="texto 248"/>
          <p:cNvSpPr txBox="1"/>
          <p:nvPr/>
        </p:nvSpPr>
        <p:spPr>
          <a:xfrm>
            <a:off x="6370168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texto 249"/>
          <p:cNvSpPr txBox="1"/>
          <p:nvPr/>
        </p:nvSpPr>
        <p:spPr>
          <a:xfrm>
            <a:off x="6827368" y="157276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Manuscrito em fonte em vez da letra da Victoria.</a:t>
            </a:r>
            <a:endParaRPr lang="en-US" sz="1600" dirty="0"/>
          </a:p>
        </p:txBody>
      </p:sp>
      <p:sp>
        <p:nvSpPr>
          <p:cNvPr id="21" name="linha 250"/>
          <p:cNvSpPr/>
          <p:nvPr/>
        </p:nvSpPr>
        <p:spPr>
          <a:xfrm>
            <a:off x="6370168" y="228600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2" name="texto 251"/>
          <p:cNvSpPr txBox="1"/>
          <p:nvPr/>
        </p:nvSpPr>
        <p:spPr>
          <a:xfrm>
            <a:off x="6370168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000" dirty="0"/>
          </a:p>
        </p:txBody>
      </p:sp>
      <p:sp>
        <p:nvSpPr>
          <p:cNvPr id="23" name="texto 252"/>
          <p:cNvSpPr txBox="1"/>
          <p:nvPr/>
        </p:nvSpPr>
        <p:spPr>
          <a:xfrm>
            <a:off x="6827368" y="244144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Número sem asterisco e sem fonte.</a:t>
            </a:r>
            <a:endParaRPr lang="en-US" sz="1600" dirty="0"/>
          </a:p>
        </p:txBody>
      </p:sp>
      <p:sp>
        <p:nvSpPr>
          <p:cNvPr id="24" name="linha 253"/>
          <p:cNvSpPr/>
          <p:nvPr/>
        </p:nvSpPr>
        <p:spPr>
          <a:xfrm>
            <a:off x="6370168" y="315468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texto 254"/>
          <p:cNvSpPr txBox="1"/>
          <p:nvPr/>
        </p:nvSpPr>
        <p:spPr>
          <a:xfrm>
            <a:off x="6370168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000" dirty="0"/>
          </a:p>
        </p:txBody>
      </p:sp>
      <p:sp>
        <p:nvSpPr>
          <p:cNvPr id="26" name="texto 255"/>
          <p:cNvSpPr txBox="1"/>
          <p:nvPr/>
        </p:nvSpPr>
        <p:spPr>
          <a:xfrm>
            <a:off x="6827368" y="331012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Imagem de referência ou gerada por IA publicada como foto da marca.</a:t>
            </a:r>
            <a:endParaRPr lang="en-US" sz="1600" dirty="0"/>
          </a:p>
        </p:txBody>
      </p:sp>
      <p:sp>
        <p:nvSpPr>
          <p:cNvPr id="27" name="linha 256"/>
          <p:cNvSpPr/>
          <p:nvPr/>
        </p:nvSpPr>
        <p:spPr>
          <a:xfrm>
            <a:off x="6370168" y="402336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8" name="texto 257"/>
          <p:cNvSpPr txBox="1"/>
          <p:nvPr/>
        </p:nvSpPr>
        <p:spPr>
          <a:xfrm>
            <a:off x="6370168" y="4160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000" dirty="0"/>
          </a:p>
        </p:txBody>
      </p:sp>
      <p:sp>
        <p:nvSpPr>
          <p:cNvPr id="29" name="texto 258"/>
          <p:cNvSpPr txBox="1"/>
          <p:nvPr/>
        </p:nvSpPr>
        <p:spPr>
          <a:xfrm>
            <a:off x="6827368" y="417880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Linguagem de holding no feed da Renata.</a:t>
            </a:r>
            <a:endParaRPr lang="en-US" sz="1600" dirty="0"/>
          </a:p>
        </p:txBody>
      </p:sp>
      <p:sp>
        <p:nvSpPr>
          <p:cNvPr id="30" name="linha 259"/>
          <p:cNvSpPr/>
          <p:nvPr/>
        </p:nvSpPr>
        <p:spPr>
          <a:xfrm>
            <a:off x="6370168" y="4892040"/>
            <a:ext cx="527288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1" name="texto 260"/>
          <p:cNvSpPr txBox="1"/>
          <p:nvPr/>
        </p:nvSpPr>
        <p:spPr>
          <a:xfrm>
            <a:off x="6370168" y="5029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×</a:t>
            </a:r>
            <a:endParaRPr lang="en-US" sz="2000" dirty="0"/>
          </a:p>
        </p:txBody>
      </p:sp>
      <p:sp>
        <p:nvSpPr>
          <p:cNvPr id="32" name="texto 261"/>
          <p:cNvSpPr txBox="1"/>
          <p:nvPr/>
        </p:nvSpPr>
        <p:spPr>
          <a:xfrm>
            <a:off x="6827368" y="504748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Versículo ou oração usados como slogan de venda.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Pendências</a:t>
            </a:r>
            <a:endParaRPr lang="en-US" sz="4000" dirty="0"/>
          </a:p>
        </p:txBody>
      </p:sp>
      <p:sp>
        <p:nvSpPr>
          <p:cNvPr id="3" name="caixa pendência 1"/>
          <p:cNvSpPr/>
          <p:nvPr/>
        </p:nvSpPr>
        <p:spPr>
          <a:xfrm>
            <a:off x="548640" y="1536192"/>
            <a:ext cx="219456" cy="219456"/>
          </a:xfrm>
          <a:prstGeom prst="rect">
            <a:avLst/>
          </a:prstGeom>
          <a:solidFill>
            <a:schemeClr val="bg1"/>
          </a:solidFill>
          <a:ln w="9525">
            <a:solidFill>
              <a:srgbClr val="45171B"/>
            </a:solidFill>
            <a:prstDash val="solid"/>
          </a:ln>
        </p:spPr>
      </p:sp>
      <p:sp>
        <p:nvSpPr>
          <p:cNvPr id="4" name="texto 262"/>
          <p:cNvSpPr txBox="1"/>
          <p:nvPr/>
        </p:nvSpPr>
        <p:spPr>
          <a:xfrm>
            <a:off x="960120" y="146304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Confirmar a Fraunces e desenhar em vetor o logotipo e o monograma "ha".</a:t>
            </a:r>
            <a:endParaRPr lang="en-US" sz="1600" dirty="0"/>
          </a:p>
        </p:txBody>
      </p:sp>
      <p:sp>
        <p:nvSpPr>
          <p:cNvPr id="5" name="caixa pendência 2"/>
          <p:cNvSpPr/>
          <p:nvPr/>
        </p:nvSpPr>
        <p:spPr>
          <a:xfrm>
            <a:off x="548640" y="2587752"/>
            <a:ext cx="219456" cy="219456"/>
          </a:xfrm>
          <a:prstGeom prst="rect">
            <a:avLst/>
          </a:prstGeom>
          <a:solidFill>
            <a:schemeClr val="bg1"/>
          </a:solidFill>
          <a:ln w="9525">
            <a:solidFill>
              <a:srgbClr val="45171B"/>
            </a:solidFill>
            <a:prstDash val="solid"/>
          </a:ln>
        </p:spPr>
      </p:sp>
      <p:sp>
        <p:nvSpPr>
          <p:cNvPr id="6" name="texto 263"/>
          <p:cNvSpPr txBox="1"/>
          <p:nvPr/>
        </p:nvSpPr>
        <p:spPr>
          <a:xfrm>
            <a:off x="960120" y="251460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Escanear a assinatura e algumas palavras na letra da Victoria.</a:t>
            </a:r>
            <a:endParaRPr lang="en-US" sz="1600" dirty="0"/>
          </a:p>
        </p:txBody>
      </p:sp>
      <p:sp>
        <p:nvSpPr>
          <p:cNvPr id="7" name="caixa pendência 3"/>
          <p:cNvSpPr/>
          <p:nvPr/>
        </p:nvSpPr>
        <p:spPr>
          <a:xfrm>
            <a:off x="548640" y="3639312"/>
            <a:ext cx="219456" cy="219456"/>
          </a:xfrm>
          <a:prstGeom prst="rect">
            <a:avLst/>
          </a:prstGeom>
          <a:solidFill>
            <a:schemeClr val="bg1"/>
          </a:solidFill>
          <a:ln w="9525">
            <a:solidFill>
              <a:srgbClr val="45171B"/>
            </a:solidFill>
            <a:prstDash val="solid"/>
          </a:ln>
        </p:spPr>
      </p:sp>
      <p:sp>
        <p:nvSpPr>
          <p:cNvPr id="8" name="texto 264"/>
          <p:cNvSpPr txBox="1"/>
          <p:nvPr/>
        </p:nvSpPr>
        <p:spPr>
          <a:xfrm>
            <a:off x="960120" y="356616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Confirmar se as fotos da prévia são reais; refazer as geradas por IA.</a:t>
            </a:r>
            <a:endParaRPr lang="en-US" sz="1600" dirty="0"/>
          </a:p>
        </p:txBody>
      </p:sp>
      <p:sp>
        <p:nvSpPr>
          <p:cNvPr id="9" name="caixa pendência 4"/>
          <p:cNvSpPr/>
          <p:nvPr/>
        </p:nvSpPr>
        <p:spPr>
          <a:xfrm>
            <a:off x="548640" y="4690872"/>
            <a:ext cx="219456" cy="219456"/>
          </a:xfrm>
          <a:prstGeom prst="rect">
            <a:avLst/>
          </a:prstGeom>
          <a:solidFill>
            <a:schemeClr val="bg1"/>
          </a:solidFill>
          <a:ln w="9525">
            <a:solidFill>
              <a:srgbClr val="45171B"/>
            </a:solidFill>
            <a:prstDash val="solid"/>
          </a:ln>
        </p:spPr>
      </p:sp>
      <p:sp>
        <p:nvSpPr>
          <p:cNvPr id="10" name="texto 265"/>
          <p:cNvSpPr txBox="1"/>
          <p:nvPr/>
        </p:nvSpPr>
        <p:spPr>
          <a:xfrm>
            <a:off x="960120" y="461772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Fotografar o rasgo em papel de verdade.</a:t>
            </a:r>
            <a:endParaRPr lang="en-US" sz="1600" dirty="0"/>
          </a:p>
        </p:txBody>
      </p:sp>
      <p:sp>
        <p:nvSpPr>
          <p:cNvPr id="11" name="caixa pendência 5"/>
          <p:cNvSpPr/>
          <p:nvPr/>
        </p:nvSpPr>
        <p:spPr>
          <a:xfrm>
            <a:off x="6370168" y="1536192"/>
            <a:ext cx="219456" cy="219456"/>
          </a:xfrm>
          <a:prstGeom prst="rect">
            <a:avLst/>
          </a:prstGeom>
          <a:solidFill>
            <a:schemeClr val="bg1"/>
          </a:solidFill>
          <a:ln w="9525">
            <a:solidFill>
              <a:srgbClr val="45171B"/>
            </a:solidFill>
            <a:prstDash val="solid"/>
          </a:ln>
        </p:spPr>
      </p:sp>
      <p:sp>
        <p:nvSpPr>
          <p:cNvPr id="12" name="texto 266"/>
          <p:cNvSpPr txBox="1"/>
          <p:nvPr/>
        </p:nvSpPr>
        <p:spPr>
          <a:xfrm>
            <a:off x="6781648" y="146304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Prova de cor e teste de relevo seco na gráfica.</a:t>
            </a:r>
            <a:endParaRPr lang="en-US" sz="1600" dirty="0"/>
          </a:p>
        </p:txBody>
      </p:sp>
      <p:sp>
        <p:nvSpPr>
          <p:cNvPr id="13" name="caixa pendência 6"/>
          <p:cNvSpPr/>
          <p:nvPr/>
        </p:nvSpPr>
        <p:spPr>
          <a:xfrm>
            <a:off x="6370168" y="2587752"/>
            <a:ext cx="219456" cy="219456"/>
          </a:xfrm>
          <a:prstGeom prst="rect">
            <a:avLst/>
          </a:prstGeom>
          <a:solidFill>
            <a:schemeClr val="bg1"/>
          </a:solidFill>
          <a:ln w="9525">
            <a:solidFill>
              <a:srgbClr val="45171B"/>
            </a:solidFill>
            <a:prstDash val="solid"/>
          </a:ln>
        </p:spPr>
      </p:sp>
      <p:sp>
        <p:nvSpPr>
          <p:cNvPr id="14" name="texto 267"/>
          <p:cNvSpPr txBox="1"/>
          <p:nvPr/>
        </p:nvSpPr>
        <p:spPr>
          <a:xfrm>
            <a:off x="6781648" y="251460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Decidir se a onça entra como símbolo ou só como clima.</a:t>
            </a:r>
            <a:endParaRPr lang="en-US" sz="1600" dirty="0"/>
          </a:p>
        </p:txBody>
      </p:sp>
      <p:sp>
        <p:nvSpPr>
          <p:cNvPr id="15" name="caixa pendência 7"/>
          <p:cNvSpPr/>
          <p:nvPr/>
        </p:nvSpPr>
        <p:spPr>
          <a:xfrm>
            <a:off x="6370168" y="3639312"/>
            <a:ext cx="219456" cy="219456"/>
          </a:xfrm>
          <a:prstGeom prst="rect">
            <a:avLst/>
          </a:prstGeom>
          <a:solidFill>
            <a:schemeClr val="bg1"/>
          </a:solidFill>
          <a:ln w="9525">
            <a:solidFill>
              <a:srgbClr val="45171B"/>
            </a:solidFill>
            <a:prstDash val="solid"/>
          </a:ln>
        </p:spPr>
      </p:sp>
      <p:sp>
        <p:nvSpPr>
          <p:cNvPr id="16" name="texto 268"/>
          <p:cNvSpPr txBox="1"/>
          <p:nvPr/>
        </p:nvSpPr>
        <p:spPr>
          <a:xfrm>
            <a:off x="6781648" y="356616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Confirmar o arquétipo e a grafia "Dassah Co." em todos os documentos.</a:t>
            </a:r>
            <a:endParaRPr lang="en-US" sz="1600" dirty="0"/>
          </a:p>
        </p:txBody>
      </p:sp>
      <p:sp>
        <p:nvSpPr>
          <p:cNvPr id="17" name="caixa pendência 8"/>
          <p:cNvSpPr/>
          <p:nvPr/>
        </p:nvSpPr>
        <p:spPr>
          <a:xfrm>
            <a:off x="6370168" y="4690872"/>
            <a:ext cx="219456" cy="219456"/>
          </a:xfrm>
          <a:prstGeom prst="rect">
            <a:avLst/>
          </a:prstGeom>
          <a:solidFill>
            <a:schemeClr val="bg1"/>
          </a:solidFill>
          <a:ln w="9525">
            <a:solidFill>
              <a:srgbClr val="45171B"/>
            </a:solidFill>
            <a:prstDash val="solid"/>
          </a:ln>
        </p:spPr>
      </p:sp>
      <p:sp>
        <p:nvSpPr>
          <p:cNvPr id="18" name="texto 269"/>
          <p:cNvSpPr txBox="1"/>
          <p:nvPr/>
        </p:nvSpPr>
        <p:spPr>
          <a:xfrm>
            <a:off x="6781648" y="461772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Atualizar a skill de propostas para usar estas cores e letras.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Hanken Grotesk"/>
                <a:ea typeface="Hanken Grotesk"/>
                <a:cs typeface="Hanken Grotesk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sah Relevo">
  <a:themeElements>
    <a:clrScheme name="Dassah Relevo">
      <a:dk1>
        <a:srgbClr val="2A0B0F"/>
      </a:dk1>
      <a:lt1>
        <a:srgbClr val="EFE7D8"/>
      </a:lt1>
      <a:dk2>
        <a:srgbClr val="45171B"/>
      </a:dk2>
      <a:lt2>
        <a:srgbClr val="D8D1C2"/>
      </a:lt2>
      <a:accent1>
        <a:srgbClr val="45171B"/>
      </a:accent1>
      <a:accent2>
        <a:srgbClr val="A8641E"/>
      </a:accent2>
      <a:accent3>
        <a:srgbClr val="B3261E"/>
      </a:accent3>
      <a:accent4>
        <a:srgbClr val="5E3A35"/>
      </a:accent4>
      <a:accent5>
        <a:srgbClr val="B39E97"/>
      </a:accent5>
      <a:accent6>
        <a:srgbClr val="CDBFAE"/>
      </a:accent6>
      <a:hlink>
        <a:srgbClr val="A8641E"/>
      </a:hlink>
      <a:folHlink>
        <a:srgbClr val="5E3A35"/>
      </a:folHlink>
    </a:clrScheme>
    <a:fontScheme name="Dassah Relevo">
      <a:majorFont>
        <a:latin typeface="Instrument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erif 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Dassah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de Marca Dassah</dc:title>
  <dc:subject>PptxGenJS Presentation</dc:subject>
  <dc:creator>Dassah Co.</dc:creator>
  <cp:lastModifiedBy>Dassah Co.</cp:lastModifiedBy>
  <cp:revision>1</cp:revision>
  <dcterms:created xsi:type="dcterms:W3CDTF">2026-10-27T11:25:35Z</dcterms:created>
  <dcterms:modified xsi:type="dcterms:W3CDTF">2026-10-27T11:25:35Z</dcterms:modified>
</cp:coreProperties>
</file>